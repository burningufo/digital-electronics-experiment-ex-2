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24128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FFFFFF"/>
                </a:solidFill>
                <a:latin typeface="黑体" panose="02010609060101010101" charset="-122"/>
              </a:rPr>
              <a:t>“学”：基于 Nexys A7 的 VGA 游戏集合机</a:t>
            </a:r>
            <a:endParaRPr sz="310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89611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50" b="0">
                <a:solidFill>
                  <a:srgbClr val="CBD5E1"/>
                </a:solidFill>
                <a:latin typeface="黑体" panose="02010609060101010101" charset="-122"/>
              </a:rPr>
              <a:t>从 VGA 显示、PS/2 输入到资源分析与时序收敛</a:t>
            </a:r>
            <a:endParaRPr sz="1750" b="0">
              <a:solidFill>
                <a:srgbClr val="CBD5E1"/>
              </a:solidFill>
              <a:latin typeface="黑体" panose="0201060906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2743200" cy="64008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黑体" panose="02010609060101010101" charset="-122"/>
              </a:rPr>
              <a:t>game_console_top</a:t>
            </a:r>
            <a:endParaRPr sz="170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0" y="2971800"/>
            <a:ext cx="11430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0">
                <a:solidFill>
                  <a:srgbClr val="FFFFFF"/>
                </a:solidFill>
                <a:latin typeface="黑体" panose="02010609060101010101" charset="-122"/>
              </a:rPr>
              <a:t>VGA Sync</a:t>
            </a:r>
            <a:endParaRPr sz="102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040880" y="2971800"/>
            <a:ext cx="11430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0">
                <a:solidFill>
                  <a:srgbClr val="FFFFFF"/>
                </a:solidFill>
                <a:latin typeface="黑体" panose="02010609060101010101" charset="-122"/>
              </a:rPr>
              <a:t>PS/2 Rx</a:t>
            </a:r>
            <a:endParaRPr sz="102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66760" y="2971800"/>
            <a:ext cx="11430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0">
                <a:solidFill>
                  <a:srgbClr val="FFFFFF"/>
                </a:solidFill>
                <a:latin typeface="黑体" panose="02010609060101010101" charset="-122"/>
              </a:rPr>
              <a:t>Menu</a:t>
            </a:r>
            <a:endParaRPr sz="102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92640" y="2971800"/>
            <a:ext cx="11430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0">
                <a:solidFill>
                  <a:srgbClr val="FFFFFF"/>
                </a:solidFill>
                <a:latin typeface="黑体" panose="02010609060101010101" charset="-122"/>
              </a:rPr>
              <a:t>Slot API</a:t>
            </a:r>
            <a:endParaRPr sz="102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35040" y="3886200"/>
            <a:ext cx="96012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黑体" panose="02010609060101010101" charset="-122"/>
              </a:rPr>
              <a:t>slot1</a:t>
            </a:r>
            <a:endParaRPr sz="105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69479" y="3886200"/>
            <a:ext cx="96012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黑体" panose="02010609060101010101" charset="-122"/>
              </a:rPr>
              <a:t>slot2</a:t>
            </a:r>
            <a:endParaRPr sz="105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03920" y="3886200"/>
            <a:ext cx="96012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黑体" panose="02010609060101010101" charset="-122"/>
              </a:rPr>
              <a:t>slot3</a:t>
            </a:r>
            <a:endParaRPr sz="105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738360" y="3886200"/>
            <a:ext cx="96012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黑体" panose="02010609060101010101" charset="-122"/>
              </a:rPr>
              <a:t>slot4</a:t>
            </a:r>
            <a:endParaRPr sz="1050" b="0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" y="5742432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黑体" panose="02010609060101010101" charset="-122"/>
              </a:rPr>
              <a:t>Nexys A7-100T</a:t>
            </a:r>
            <a:endParaRPr sz="115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53512" y="5742432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黑体" panose="02010609060101010101" charset="-122"/>
              </a:rPr>
              <a:t>VGA / PS2 / Game Slot</a:t>
            </a:r>
            <a:endParaRPr sz="115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02352" y="5742432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黑体" panose="02010609060101010101" charset="-122"/>
              </a:rPr>
              <a:t>LUT / WNS / Bitstream</a:t>
            </a:r>
            <a:endParaRPr sz="115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1645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4A3B8"/>
                </a:solidFill>
                <a:latin typeface="黑体" panose="02010609060101010101" charset="-122"/>
              </a:rPr>
              <a:t>课程验收汇报</a:t>
            </a:r>
            <a:endParaRPr sz="1000" b="0">
              <a:solidFill>
                <a:srgbClr val="94A3B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产品定位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这不是单个小游戏，而是一台 FPGA 游戏集合机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它有完整用户流程：菜单、选择、启动、返回。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02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69164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上电</a:t>
            </a:r>
            <a:endParaRPr sz="14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587752" y="1792224"/>
            <a:ext cx="36576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600200"/>
            <a:ext cx="1691640" cy="53035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VGA 菜单</a:t>
            </a:r>
            <a:endParaRPr sz="14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00600" y="1792224"/>
            <a:ext cx="36576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2936" y="1600200"/>
            <a:ext cx="169164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键盘选择</a:t>
            </a:r>
            <a:endParaRPr sz="14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013448" y="1792224"/>
            <a:ext cx="36576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5783" y="1600200"/>
            <a:ext cx="1691640" cy="53035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启动游戏</a:t>
            </a:r>
            <a:endParaRPr sz="14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9226296" y="1792224"/>
            <a:ext cx="36576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28632" y="1600200"/>
            <a:ext cx="169164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ESC 返回</a:t>
            </a:r>
            <a:endParaRPr sz="14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2880360"/>
            <a:ext cx="224028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TANK WAR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64207" y="3611880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0">
                <a:solidFill>
                  <a:srgbClr val="526070"/>
                </a:solidFill>
                <a:latin typeface="黑体" panose="02010609060101010101" charset="-122"/>
              </a:rPr>
              <a:t>slot1</a:t>
            </a:r>
            <a:endParaRPr sz="8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66160" y="2880360"/>
            <a:ext cx="2240280" cy="6858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GAME TWO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15968" y="3611880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0">
                <a:solidFill>
                  <a:srgbClr val="526070"/>
                </a:solidFill>
                <a:latin typeface="黑体" panose="02010609060101010101" charset="-122"/>
              </a:rPr>
              <a:t>slot2</a:t>
            </a:r>
            <a:endParaRPr sz="8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17920" y="2880360"/>
            <a:ext cx="224028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GAME THREE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67728" y="3611880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0">
                <a:solidFill>
                  <a:srgbClr val="526070"/>
                </a:solidFill>
                <a:latin typeface="黑体" panose="02010609060101010101" charset="-122"/>
              </a:rPr>
              <a:t>slot3</a:t>
            </a:r>
            <a:endParaRPr sz="8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869680" y="2880360"/>
            <a:ext cx="2240280" cy="685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GAME FOUR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19488" y="3611880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0">
                <a:solidFill>
                  <a:srgbClr val="526070"/>
                </a:solidFill>
                <a:latin typeface="黑体" panose="02010609060101010101" charset="-122"/>
              </a:rPr>
              <a:t>slot4</a:t>
            </a:r>
            <a:endParaRPr sz="8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834640" y="4572000"/>
            <a:ext cx="6400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>
                <a:solidFill>
                  <a:srgbClr val="1D4ED8"/>
                </a:solidFill>
                <a:latin typeface="黑体" panose="02010609060101010101" charset="-122"/>
              </a:rPr>
              <a:t>用户看到的是一台简易游戏主机</a:t>
            </a:r>
            <a:endParaRPr sz="180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汇报路线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本次汇报主线：从能显示，到能优化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按学习路线讲清系统能力，而不是按文件列表堆代码。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03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572768" cy="6217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20" b="1">
                <a:solidFill>
                  <a:srgbClr val="0B1F33"/>
                </a:solidFill>
                <a:latin typeface="黑体" panose="02010609060101010101" charset="-122"/>
              </a:rPr>
              <a:t>VGA 显示</a:t>
            </a:r>
            <a:endParaRPr sz="132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1874519"/>
            <a:ext cx="20116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0891B2"/>
                </a:solidFill>
                <a:latin typeface="黑体" panose="02010609060101010101" charset="-122"/>
              </a:rPr>
              <a:t>1</a:t>
            </a:r>
            <a:endParaRPr sz="100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23160" y="2468880"/>
            <a:ext cx="320040" cy="10058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24328" y="2240280"/>
            <a:ext cx="1572768" cy="62179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20" b="1">
                <a:solidFill>
                  <a:srgbClr val="0B1F33"/>
                </a:solidFill>
                <a:latin typeface="黑体" panose="02010609060101010101" charset="-122"/>
              </a:rPr>
              <a:t>菜单渲染</a:t>
            </a:r>
            <a:endParaRPr sz="132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7480" y="1874519"/>
            <a:ext cx="20116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0891B2"/>
                </a:solidFill>
                <a:latin typeface="黑体" panose="02010609060101010101" charset="-122"/>
              </a:rPr>
              <a:t>2</a:t>
            </a:r>
            <a:endParaRPr sz="100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315968" y="2468880"/>
            <a:ext cx="320040" cy="10058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2240280"/>
            <a:ext cx="1572768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20" b="1">
                <a:solidFill>
                  <a:srgbClr val="0B1F33"/>
                </a:solidFill>
                <a:latin typeface="黑体" panose="02010609060101010101" charset="-122"/>
              </a:rPr>
              <a:t>PS/2 输入</a:t>
            </a:r>
            <a:endParaRPr sz="132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1874519"/>
            <a:ext cx="20116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0891B2"/>
                </a:solidFill>
                <a:latin typeface="黑体" panose="02010609060101010101" charset="-122"/>
              </a:rPr>
              <a:t>3</a:t>
            </a:r>
            <a:endParaRPr sz="100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208775" y="2468880"/>
            <a:ext cx="320040" cy="10058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2240280"/>
            <a:ext cx="1572768" cy="6217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20" b="1">
                <a:solidFill>
                  <a:srgbClr val="0B1F33"/>
                </a:solidFill>
                <a:latin typeface="黑体" panose="02010609060101010101" charset="-122"/>
              </a:rPr>
              <a:t>Game Slot API</a:t>
            </a:r>
            <a:endParaRPr sz="132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83096" y="1874519"/>
            <a:ext cx="20116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0891B2"/>
                </a:solidFill>
                <a:latin typeface="黑体" panose="02010609060101010101" charset="-122"/>
              </a:rPr>
              <a:t>4</a:t>
            </a:r>
            <a:endParaRPr sz="100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101583" y="2468880"/>
            <a:ext cx="320040" cy="10058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2240280"/>
            <a:ext cx="1572768" cy="62179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20" b="1">
                <a:solidFill>
                  <a:srgbClr val="0B1F33"/>
                </a:solidFill>
                <a:latin typeface="黑体" panose="02010609060101010101" charset="-122"/>
              </a:rPr>
              <a:t>资源分析</a:t>
            </a:r>
            <a:endParaRPr sz="132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75904" y="1874519"/>
            <a:ext cx="20116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0891B2"/>
                </a:solidFill>
                <a:latin typeface="黑体" panose="02010609060101010101" charset="-122"/>
              </a:rPr>
              <a:t>5</a:t>
            </a:r>
            <a:endParaRPr sz="100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9994392" y="2468880"/>
            <a:ext cx="320040" cy="10058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95560" y="2240280"/>
            <a:ext cx="1572768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20" b="1">
                <a:solidFill>
                  <a:srgbClr val="0B1F33"/>
                </a:solidFill>
                <a:latin typeface="黑体" panose="02010609060101010101" charset="-122"/>
              </a:rPr>
              <a:t>时序收敛</a:t>
            </a:r>
            <a:endParaRPr sz="132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68712" y="1874519"/>
            <a:ext cx="20116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0891B2"/>
                </a:solidFill>
                <a:latin typeface="黑体" panose="02010609060101010101" charset="-122"/>
              </a:rPr>
              <a:t>6</a:t>
            </a:r>
            <a:endParaRPr sz="100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828800" y="3977639"/>
            <a:ext cx="850392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先讲它怎样显示和输入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828800" y="4599431"/>
            <a:ext cx="850392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再讲多游戏怎样平台化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828800" y="5221224"/>
            <a:ext cx="850392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最后讲资源和时序如何收敛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系统架构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系统总体架构：公共服务 + 游戏槽位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`game_console_top` 像主机，slot1~slot4 像卡带。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04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29718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黑体" panose="02010609060101010101" charset="-122"/>
              </a:rPr>
              <a:t>game_console_top</a:t>
            </a:r>
            <a:br>
              <a:rPr sz="170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700" b="1">
                <a:solidFill>
                  <a:srgbClr val="0B1F33"/>
                </a:solidFill>
                <a:latin typeface="黑体" panose="02010609060101010101" charset="-122"/>
              </a:rPr>
              <a:t>主机层</a:t>
            </a:r>
            <a:endParaRPr sz="17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697480"/>
            <a:ext cx="3017520" cy="384048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console_vga_sync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069080" y="2825496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319272"/>
            <a:ext cx="3017520" cy="384048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console_ps2_rx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069080" y="3447288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941064"/>
            <a:ext cx="3017520" cy="384048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console_menu_controller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069080" y="4069080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562856"/>
            <a:ext cx="3017520" cy="384048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console_menu_renderer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069080" y="4690872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726679" y="2825496"/>
            <a:ext cx="310896" cy="914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2697480"/>
            <a:ext cx="2971800" cy="3840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game_slot1_top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726679" y="3447288"/>
            <a:ext cx="310896" cy="914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3319272"/>
            <a:ext cx="2971800" cy="3840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game_slot2_top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726679" y="4069080"/>
            <a:ext cx="310896" cy="914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79" y="3941064"/>
            <a:ext cx="2971800" cy="3840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game_slot3_top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726679" y="4690872"/>
            <a:ext cx="310896" cy="914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79" y="4562856"/>
            <a:ext cx="2971800" cy="3840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30" b="0">
                <a:solidFill>
                  <a:srgbClr val="0B1F33"/>
                </a:solidFill>
                <a:latin typeface="黑体" panose="02010609060101010101" charset="-122"/>
              </a:rPr>
              <a:t>game_slot4_top</a:t>
            </a:r>
            <a:endParaRPr sz="113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40480" y="5285232"/>
            <a:ext cx="448056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VGA / LED / 七段管 / buzzer</a:t>
            </a:r>
            <a:br>
              <a:rPr sz="140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400" b="1">
                <a:solidFill>
                  <a:srgbClr val="0B1F33"/>
                </a:solidFill>
                <a:latin typeface="黑体" panose="02010609060101010101" charset="-122"/>
              </a:rPr>
              <a:t>统一仲裁输出</a:t>
            </a:r>
            <a:endParaRPr sz="14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VGA 显示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VGA 的本质：扫描到哪里，就输出哪里的 RGB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显示器不接收整张图片，FPGA 必须每个像素周期实时给颜色。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05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481328"/>
            <a:ext cx="6172200" cy="3977639"/>
          </a:xfrm>
          <a:prstGeom prst="roundRect">
            <a:avLst/>
          </a:prstGeom>
          <a:solidFill>
            <a:srgbClr val="E2E8F0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64208"/>
            <a:ext cx="2011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黑体" panose="02010609060101010101" charset="-122"/>
              </a:rPr>
              <a:t>640 × 480 可见区</a:t>
            </a:r>
            <a:endParaRPr sz="130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3000" y="205740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6888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88036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29184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370332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411480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52628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1325880" y="1993392"/>
            <a:ext cx="448056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828800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黑体" panose="02010609060101010101" charset="-122"/>
              </a:rPr>
              <a:t>左到右</a:t>
            </a:r>
            <a:endParaRPr sz="10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00400" y="3337560"/>
            <a:ext cx="1600200" cy="56692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当前像素</a:t>
            </a:r>
            <a:br>
              <a:rPr sz="120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(pixel_x, pixel_y)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543800" y="1600200"/>
            <a:ext cx="352044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display_active：可见区有效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43800" y="2221992"/>
            <a:ext cx="352044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RGB：当前像素颜色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43800" y="2843784"/>
            <a:ext cx="352044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HS/VS：行同步/帧同步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43800" y="3465576"/>
            <a:ext cx="3520440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消隐区不显示图像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核心理解：FPGA 不是传图片，而是在每个像素周期实时回答“这个点是什么颜色”。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VGA 显示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VGA 时序链路：从 100MHz 到 RGB 输出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`pixel_tick` 让 VGA 坐标按像素节拍推进，渲染器按坐标出颜色。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06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141732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CLK100MHZ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03120" y="2212848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58568" y="2011680"/>
            <a:ext cx="141732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pix_div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767328" y="2212848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22776" y="2011680"/>
            <a:ext cx="141732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pixel_tick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431536" y="2212848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86984" y="2011680"/>
            <a:ext cx="1417320" cy="53035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h_count / v_count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095744" y="2212848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51192" y="2011680"/>
            <a:ext cx="1417320" cy="53035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pixel_x / pixel_y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759952" y="2212848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400" y="2011680"/>
            <a:ext cx="141732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renderer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0424160" y="2212848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79608" y="2011680"/>
            <a:ext cx="141732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VGA RGB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26280" y="3246120"/>
            <a:ext cx="2834640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黑体" panose="02010609060101010101" charset="-122"/>
              </a:rPr>
              <a:t>一帧结束：frame_tick</a:t>
            </a:r>
            <a:endParaRPr sz="13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28800" y="4251960"/>
            <a:ext cx="822960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像素坐标来自公共 VGA 同步器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28800" y="4873752"/>
            <a:ext cx="822960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菜单和所有游戏共享同一坐标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28800" y="5495544"/>
            <a:ext cx="822960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所有渲染路径最终汇入顶层复用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VGA 显示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`console_vga_sync`：两个计数器生成 VGA 坐标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参数、像素使能、坐标和可见区判断构成 VGA 控制器核心。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07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444752"/>
            <a:ext cx="3886200" cy="2560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1">
                <a:solidFill>
                  <a:srgbClr val="1D4ED8"/>
                </a:solidFill>
                <a:latin typeface="黑体" panose="02010609060101010101" charset="-122"/>
              </a:rPr>
              <a:t>src/common/console_vga_sync.v</a:t>
            </a:r>
            <a:endParaRPr sz="102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64465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>
            <a:normAutofit/>
          </a:bodyPr>
          <a:lstStyle/>
          <a:p>
            <a:pPr algn="ctr">
              <a:lnSpc>
                <a:spcPct val="88000"/>
              </a:lnSpc>
            </a:pPr>
            <a:r>
              <a:rPr sz="1040">
                <a:solidFill>
                  <a:srgbClr val="E2E8F0"/>
                </a:solidFill>
                <a:latin typeface="Consolas" panose="020B0609020204030204"/>
              </a:rPr>
              <a:t>13  localparam integer H_VISIBLE = 640;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19  localparam integer H_FRONT   = 16;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20  localparam integer H_SYNC    = 96;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21  localparam integer H_BACK    = 48;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25  localparam integer V_VISIBLE = 480;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31  localparam integer V_FRONT   = 10;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32  localparam integer V_SYNC    = 2;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33  localparam integer V_BACK    = 33;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43  reg [1:0] pix_div;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44  assign pixel_tick = (pix_div == 2'b11);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55  assign display_active =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56      (h_count &lt; H_VISIBLE) &amp;&amp; (v_count &lt; V_VISIBLE);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66  else if (pixel_tick) begin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67      if (h_count == H_TOTAL - 1) ...</a:t>
            </a:r>
            <a:endParaRPr sz="104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640/480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89720" y="1801368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定义可见显示区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35240" y="2578608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pixel_tick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89720" y="2551176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像素推进使能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35240" y="3328415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h/v count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20" y="3300984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扫描坐标计数器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35240" y="4078224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active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4050791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区分可见区和消隐区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这段代码把 100MHz 时钟下的计数器，转换成 VGA 显示器需要的像素坐标和同步节奏。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VGA 显示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为什么用 pixel_tick，而不是新建 25MHz 时钟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用 clock enable 保持单时钟域，降低跨时钟域和约束复杂度。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08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3749039" cy="47548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50" b="1">
                <a:solidFill>
                  <a:srgbClr val="0B1F33"/>
                </a:solidFill>
                <a:latin typeface="黑体" panose="02010609060101010101" charset="-122"/>
              </a:rPr>
              <a:t>方案 A：新建 25MHz 时钟</a:t>
            </a:r>
            <a:endParaRPr sz="14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25880" y="2743200"/>
            <a:ext cx="2926080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DC2626"/>
                </a:solidFill>
                <a:latin typeface="黑体" panose="02010609060101010101" charset="-122"/>
              </a:rPr>
              <a:t>多时钟域</a:t>
            </a:r>
            <a:br>
              <a:rPr sz="1400" b="1">
                <a:solidFill>
                  <a:srgbClr val="DC2626"/>
                </a:solidFill>
                <a:latin typeface="黑体" panose="02010609060101010101" charset="-122"/>
              </a:rPr>
            </a:br>
            <a:r>
              <a:rPr sz="1400" b="1">
                <a:solidFill>
                  <a:srgbClr val="DC2626"/>
                </a:solidFill>
                <a:latin typeface="黑体" panose="02010609060101010101" charset="-122"/>
              </a:rPr>
              <a:t>CDC 和约束复杂</a:t>
            </a:r>
            <a:endParaRPr sz="1400" b="1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3749039" cy="47548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50" b="1">
                <a:solidFill>
                  <a:srgbClr val="0B1F33"/>
                </a:solidFill>
                <a:latin typeface="黑体" panose="02010609060101010101" charset="-122"/>
              </a:rPr>
              <a:t>当前方案：100MHz + pixel_tick</a:t>
            </a:r>
            <a:endParaRPr sz="14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12280" y="2743200"/>
            <a:ext cx="292608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黑体" panose="02010609060101010101" charset="-122"/>
              </a:rPr>
              <a:t>单时钟域</a:t>
            </a:r>
            <a:br>
              <a:rPr sz="1400" b="1">
                <a:solidFill>
                  <a:srgbClr val="16A34A"/>
                </a:solidFill>
                <a:latin typeface="黑体" panose="02010609060101010101" charset="-122"/>
              </a:rPr>
            </a:br>
            <a:r>
              <a:rPr sz="1400" b="1">
                <a:solidFill>
                  <a:srgbClr val="16A34A"/>
                </a:solidFill>
                <a:latin typeface="黑体" panose="02010609060101010101" charset="-122"/>
              </a:rPr>
              <a:t>clock enable 推进像素</a:t>
            </a:r>
            <a:endParaRPr sz="140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工程意义：减少跨时钟域问题，并让后续 VGA multicycle 约束具有明确边界。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菜单渲染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菜单不是图片，而是像素级坐标判断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标题、菜单项、高亮和边框都由当前像素命中关系决定。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09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4069080" cy="3794760"/>
          </a:xfrm>
          <a:prstGeom prst="roundRect">
            <a:avLst/>
          </a:prstGeom>
          <a:solidFill>
            <a:srgbClr val="0F172A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1847088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DBA74"/>
                </a:solidFill>
                <a:latin typeface="黑体" panose="02010609060101010101" charset="-122"/>
              </a:rPr>
              <a:t>GAME CONSOLE</a:t>
            </a:r>
            <a:endParaRPr sz="1500" b="1">
              <a:solidFill>
                <a:srgbClr val="FDBA74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25880" y="2423160"/>
            <a:ext cx="3063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黑体" panose="02010609060101010101" charset="-122"/>
              </a:rPr>
              <a:t>TANK WAR</a:t>
            </a:r>
            <a:endParaRPr sz="115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25880" y="2990088"/>
            <a:ext cx="3063240" cy="384048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黑体" panose="02010609060101010101" charset="-122"/>
              </a:rPr>
              <a:t>GAME TWO</a:t>
            </a:r>
            <a:endParaRPr sz="1150" b="1">
              <a:solidFill>
                <a:srgbClr val="0F172A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25880" y="3557015"/>
            <a:ext cx="3063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黑体" panose="02010609060101010101" charset="-122"/>
              </a:rPr>
              <a:t>GAME THREE</a:t>
            </a:r>
            <a:endParaRPr sz="115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25880" y="4123944"/>
            <a:ext cx="3063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黑体" panose="02010609060101010101" charset="-122"/>
              </a:rPr>
              <a:t>GAME FOUR</a:t>
            </a:r>
            <a:endParaRPr sz="115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77840" y="2468880"/>
            <a:ext cx="1143000" cy="47548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0B1F33"/>
                </a:solidFill>
                <a:latin typeface="黑体" panose="02010609060101010101" charset="-122"/>
              </a:rPr>
              <a:t>pixel_x/y</a:t>
            </a:r>
            <a:endParaRPr sz="10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803136" y="2651760"/>
            <a:ext cx="256032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59" y="2468880"/>
            <a:ext cx="1143000" cy="475488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0B1F33"/>
                </a:solidFill>
                <a:latin typeface="黑体" panose="02010609060101010101" charset="-122"/>
              </a:rPr>
              <a:t>区域判断</a:t>
            </a:r>
            <a:endParaRPr sz="10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220456" y="2651760"/>
            <a:ext cx="256032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2468880"/>
            <a:ext cx="1143000" cy="47548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0B1F33"/>
                </a:solidFill>
                <a:latin typeface="黑体" panose="02010609060101010101" charset="-122"/>
              </a:rPr>
              <a:t>标题 / 文字</a:t>
            </a:r>
            <a:endParaRPr sz="10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9637776" y="2651760"/>
            <a:ext cx="256032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2468880"/>
            <a:ext cx="1143000" cy="47548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0B1F33"/>
                </a:solidFill>
                <a:latin typeface="黑体" panose="02010609060101010101" charset="-122"/>
              </a:rPr>
              <a:t>高亮 / 边框</a:t>
            </a:r>
            <a:endParaRPr sz="10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11055096" y="2651760"/>
            <a:ext cx="256032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247120" y="2468880"/>
            <a:ext cx="1143000" cy="47548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0B1F33"/>
                </a:solidFill>
                <a:latin typeface="黑体" panose="02010609060101010101" charset="-122"/>
              </a:rPr>
              <a:t>RGB</a:t>
            </a:r>
            <a:endParaRPr sz="10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0" y="3749039"/>
            <a:ext cx="461772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菜单不是图片文件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0" y="4370831"/>
            <a:ext cx="461772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每个像素都要做命中判断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0" y="4992624"/>
            <a:ext cx="461772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字模和颜色优先级会消耗 LUT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菜单渲染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菜单渲染逻辑：区域、字模、颜色优先级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渲染器只回答“这个像素怎么画”，控制器只回答“当前选谁”。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10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444752"/>
            <a:ext cx="3886200" cy="2560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1">
                <a:solidFill>
                  <a:srgbClr val="1D4ED8"/>
                </a:solidFill>
                <a:latin typeface="黑体" panose="02010609060101010101" charset="-122"/>
              </a:rPr>
              <a:t>src/common/console_menu_renderer.v 伪代码</a:t>
            </a:r>
            <a:endParaRPr sz="102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64465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>
            <a:normAutofit/>
          </a:bodyPr>
          <a:lstStyle/>
          <a:p>
            <a:pPr algn="ctr">
              <a:lnSpc>
                <a:spcPct val="88000"/>
              </a:lnSpc>
            </a:pPr>
            <a:r>
              <a:rPr sz="1040">
                <a:solidFill>
                  <a:srgbClr val="E2E8F0"/>
                </a:solidFill>
                <a:latin typeface="Consolas" panose="020B0609020204030204"/>
              </a:rPr>
              <a:t>// src/common/console_menu_renderer.v 伪代码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if (!display_active)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rgb = 12'h000;          // 消隐区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else begin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rgb = background_color; // 默认背景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if (title_on)      rgb = title_color;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else if (help_on)  rgb = help_color;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else if (item_text_on)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    rgb = selected ? highlight_text : normal_text;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else if (item_body)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        rgb = selected ? highlight_box : item_box;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end</a:t>
            </a:r>
            <a:endParaRPr sz="104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visible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89720" y="1801368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消隐区输出黑色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35240" y="2578608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title/help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89720" y="2551176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文字区域优先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35240" y="3328415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selected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20" y="3300984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光标决定高亮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35240" y="4078224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priority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4050791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后匹配覆盖颜色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菜单渲染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菜单控制与输出复用：状态决定显示源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`menu_active` 把菜单 RGB 和当前 slot RGB 复用到同一组 VGA 端口。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11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3063240" cy="402336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console_ps2_rx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1720" y="1965960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0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203704"/>
            <a:ext cx="306324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menu_controller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569464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0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2807208"/>
            <a:ext cx="3063240" cy="40233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cursor / game_sel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0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3410712"/>
            <a:ext cx="306324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menu_renderer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3776472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0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4014216"/>
            <a:ext cx="3063240" cy="402336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menu RGB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0" y="1965960"/>
            <a:ext cx="1417320" cy="402336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menu RGB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2743200"/>
            <a:ext cx="1417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active slot RGB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52360" y="2331720"/>
            <a:ext cx="1508760" cy="60350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menu_active</a:t>
            </a:r>
            <a:br>
              <a:rPr sz="120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MUX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64040" y="2432304"/>
            <a:ext cx="1508760" cy="40233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VGA_R/G/B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178040" y="2148840"/>
            <a:ext cx="256032" cy="914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178040" y="2907792"/>
            <a:ext cx="256032" cy="914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052560" y="2633472"/>
            <a:ext cx="310896" cy="10058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分层结果：控制器决定“选谁”，渲染器决定“怎么画”，顶层决定“显示谁”。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PS/2 输入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PS/2 输入不是按键电平，而是 11-bit 串行帧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键盘发的是扫描码，FPGA 先接收 byte，再解释成事件。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12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749808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START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63039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D0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48255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D1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33472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D2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18687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D3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03903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D4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89119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D5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74335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D6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559551" y="1828800"/>
            <a:ext cx="530352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D7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4767" y="1828800"/>
            <a:ext cx="749808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PARITY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49439" y="1828800"/>
            <a:ext cx="749808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870" b="1">
                <a:solidFill>
                  <a:srgbClr val="0B1F33"/>
                </a:solidFill>
                <a:latin typeface="黑体" panose="02010609060101010101" charset="-122"/>
              </a:rPr>
              <a:t>STOP</a:t>
            </a:r>
            <a:endParaRPr sz="87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" y="3657600"/>
            <a:ext cx="1874519" cy="502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PS2_CLK/DATA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935224" y="3840480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1839" y="3657600"/>
            <a:ext cx="1874519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下降沿采样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266944" y="3840480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59" y="3657600"/>
            <a:ext cx="1874519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shift_data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598663" y="3840480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79" y="3657600"/>
            <a:ext cx="1874519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byte_ready/data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930384" y="3840480"/>
            <a:ext cx="274320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87000" y="3657600"/>
            <a:ext cx="1874519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menu event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学习点：外设输入要先完成协议接收，再交给上层状态机解释。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PS/2 输入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`console_ps2_rx`：同步、滤波、下降沿采样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接收器只输出 `byte_ready + byte_data`，不直接判断 W/S 或方向键。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13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444752"/>
            <a:ext cx="3886200" cy="2560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20" b="1">
                <a:solidFill>
                  <a:srgbClr val="1D4ED8"/>
                </a:solidFill>
                <a:latin typeface="黑体" panose="02010609060101010101" charset="-122"/>
              </a:rPr>
              <a:t>src/common/console_ps2_rx.v</a:t>
            </a:r>
            <a:endParaRPr sz="102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64465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>
            <a:normAutofit/>
          </a:bodyPr>
          <a:lstStyle/>
          <a:p>
            <a:pPr algn="ctr">
              <a:lnSpc>
                <a:spcPct val="88000"/>
              </a:lnSpc>
            </a:pPr>
            <a:r>
              <a:rPr sz="1040">
                <a:solidFill>
                  <a:srgbClr val="E2E8F0"/>
                </a:solidFill>
                <a:latin typeface="Consolas" panose="020B0609020204030204"/>
              </a:rPr>
              <a:t>40  assign ps2_clk_fall_next = ps2_clk_q &amp; ~ps2_clk_next;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41  assign ps2_parity_ok = (^shift_data) ^ parity_bit;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70  if (ps2_clk_fall_next) begin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72      case (bit_count)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73      4'd0: if (ps2_data_next == 1'b0)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75                bit_count &lt;= 4'd1;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79      4'd1: shift_data[0] &lt;= ps2_data_next;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...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111     4'd9: parity_bit &lt;= ps2_data_next;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115     4'd10: if (ps2_data_next == 1'b1 &amp;&amp;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116                       ps2_parity_ok) begin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117                 byte_data &lt;= shift_data;</a:t>
            </a:r>
            <a:br>
              <a:rPr sz="1040">
                <a:solidFill>
                  <a:srgbClr val="E2E8F0"/>
                </a:solidFill>
                <a:latin typeface="Consolas" panose="020B0609020204030204"/>
              </a:rPr>
            </a:br>
            <a:r>
              <a:rPr sz="1040">
                <a:solidFill>
                  <a:srgbClr val="E2E8F0"/>
                </a:solidFill>
                <a:latin typeface="Consolas" panose="020B0609020204030204"/>
              </a:rPr>
              <a:t>118                 byte_ready &lt;= 1'b1;</a:t>
            </a:r>
            <a:endParaRPr sz="104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fall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89720" y="1801368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下降沿采样点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35240" y="2578608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bit_count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89720" y="2551176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帧位置状态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35240" y="3328415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parity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20" y="3300984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奇校验通过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35240" y="4078224"/>
            <a:ext cx="141732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20" b="1">
                <a:solidFill>
                  <a:srgbClr val="EA580C"/>
                </a:solidFill>
                <a:latin typeface="黑体" panose="02010609060101010101" charset="-122"/>
              </a:rPr>
              <a:t>byte_ready</a:t>
            </a:r>
            <a:endParaRPr sz="112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4050791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byte 事件产生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PS/2 输入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扫描码事件化：从 byte 到菜单动作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W/S、方向键、Enter/Space、Esc 被转换成系统事件。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14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19659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按键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26080" y="1600200"/>
            <a:ext cx="137160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扫描码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27889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系统事件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2075688"/>
            <a:ext cx="1965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W / Up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26080" y="207568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1D / 75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43400" y="207568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光标上移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2532888"/>
            <a:ext cx="1965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S / Down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26080" y="253288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1B / 72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43400" y="253288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光标下移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2990088"/>
            <a:ext cx="1965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Enter / Space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26080" y="299008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5A / 29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3400" y="299008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启动游戏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3447288"/>
            <a:ext cx="1965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Esc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26080" y="344728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76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43400" y="344728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返回菜单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3904487"/>
            <a:ext cx="1965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F0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26080" y="3904487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F0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43400" y="3904487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释放前缀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14400" y="4361688"/>
            <a:ext cx="1965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E0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26080" y="436168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E0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43400" y="436168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B1F33"/>
                </a:solidFill>
                <a:latin typeface="黑体" panose="02010609060101010101" charset="-122"/>
              </a:rPr>
              <a:t>扩展键前缀</a:t>
            </a:r>
            <a:endParaRPr sz="110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0" y="1920240"/>
            <a:ext cx="365760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底层 PS/2 byte 不直接控制菜单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315200" y="2542032"/>
            <a:ext cx="365760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controller 把 byte 翻译成动作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315200" y="3163824"/>
            <a:ext cx="365760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F0 释放前缀避免松键触发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槽位架构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Game Slot API：从“多个游戏”到“游戏平台”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每个游戏像卡带一样接入，公共输入和统一输出保持稳定。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15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2148840"/>
            <a:ext cx="25603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黑体" panose="02010609060101010101" charset="-122"/>
              </a:rPr>
              <a:t>game_console_top</a:t>
            </a:r>
            <a:br>
              <a:rPr sz="170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700" b="1">
                <a:solidFill>
                  <a:srgbClr val="0B1F33"/>
                </a:solidFill>
                <a:latin typeface="黑体" panose="02010609060101010101" charset="-122"/>
              </a:rPr>
              <a:t>主机</a:t>
            </a:r>
            <a:endParaRPr sz="17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97280" y="4343400"/>
            <a:ext cx="1600200" cy="62179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slot1</a:t>
            </a:r>
            <a:br>
              <a:rPr sz="128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TANK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11880" y="4343400"/>
            <a:ext cx="1600200" cy="62179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slot2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4343400"/>
            <a:ext cx="1600200" cy="62179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slot3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41080" y="4343400"/>
            <a:ext cx="1600200" cy="62179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slot4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1280160"/>
            <a:ext cx="205740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pixel_x/y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2971800" y="1408176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783080"/>
            <a:ext cx="205740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pixel_tick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2971800" y="1911095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286000"/>
            <a:ext cx="205740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frame_tick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2971800" y="2414016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2788920"/>
            <a:ext cx="205740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PS/2 byte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971800" y="2916936"/>
            <a:ext cx="310896" cy="9144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635240" y="1408176"/>
            <a:ext cx="310896" cy="9144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1280160"/>
            <a:ext cx="192024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RGB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635240" y="1911095"/>
            <a:ext cx="310896" cy="9144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92440" y="1783080"/>
            <a:ext cx="192024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LED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7635240" y="2414016"/>
            <a:ext cx="310896" cy="9144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2286000"/>
            <a:ext cx="192024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7-seg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635240" y="2916936"/>
            <a:ext cx="310896" cy="9144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2788920"/>
            <a:ext cx="192024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buzzer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接口稳定后，游戏内部可以替换；顶层仍按同一方式接入和复用。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槽位架构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输出仲裁：一组真实外设，多个画面来源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菜单和四个游戏共享 VGA、LED、七段管和蜂鸣器。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16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160020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slot1 RGB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1965960"/>
            <a:ext cx="160020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slot2 RGB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160020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slot3 RGB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2880360"/>
            <a:ext cx="160020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slot4 RGB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37560" y="1993392"/>
            <a:ext cx="1965960" cy="502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30" b="1">
                <a:solidFill>
                  <a:srgbClr val="0B1F33"/>
                </a:solidFill>
                <a:latin typeface="黑体" panose="02010609060101010101" charset="-122"/>
              </a:rPr>
              <a:t>active_slot_rgb</a:t>
            </a:r>
            <a:endParaRPr sz="123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37560" y="3127248"/>
            <a:ext cx="196596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黑体" panose="02010609060101010101" charset="-122"/>
              </a:rPr>
              <a:t>menu_rgb_q</a:t>
            </a:r>
            <a:endParaRPr sz="12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2200" y="2514600"/>
            <a:ext cx="1920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黑体" panose="02010609060101010101" charset="-122"/>
              </a:rPr>
              <a:t>menu_active MUX</a:t>
            </a:r>
            <a:endParaRPr sz="13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0" y="2423160"/>
            <a:ext cx="2103120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40" b="1">
                <a:solidFill>
                  <a:srgbClr val="0B1F33"/>
                </a:solidFill>
                <a:latin typeface="黑体" panose="02010609060101010101" charset="-122"/>
              </a:rPr>
              <a:t>VGA_R/G/B</a:t>
            </a:r>
            <a:br>
              <a:rPr sz="124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40" b="1">
                <a:solidFill>
                  <a:srgbClr val="0B1F33"/>
                </a:solidFill>
                <a:latin typeface="黑体" panose="02010609060101010101" charset="-122"/>
              </a:rPr>
              <a:t>LED / SEG / buzzer</a:t>
            </a:r>
            <a:endParaRPr sz="12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工程提醒：运行时未选中只是不更新状态，综合资源仍会进入 bitstream。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资源分析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资源报告：LUT 高、FF 低，问题是组合逻辑太重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30146 LUT 约 48%，4371 FF 约 3%，优化方向是切短组合路径。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17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资源占用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LUT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00200" y="2057400"/>
            <a:ext cx="4572000" cy="32918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00200" y="2057400"/>
            <a:ext cx="2194560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039112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1">
                <a:solidFill>
                  <a:srgbClr val="EA580C"/>
                </a:solidFill>
                <a:latin typeface="黑体" panose="02010609060101010101" charset="-122"/>
              </a:rPr>
              <a:t>30146 / 63400  ≈ 48%</a:t>
            </a:r>
            <a:endParaRPr sz="108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633472"/>
            <a:ext cx="548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0B1F33"/>
                </a:solidFill>
                <a:latin typeface="黑体" panose="02010609060101010101" charset="-122"/>
              </a:rPr>
              <a:t>FF</a:t>
            </a:r>
            <a:endParaRPr sz="11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600200" y="2926080"/>
            <a:ext cx="4572000" cy="32918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00200" y="2926080"/>
            <a:ext cx="13716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907792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1">
                <a:solidFill>
                  <a:srgbClr val="16A34A"/>
                </a:solidFill>
                <a:latin typeface="黑体" panose="02010609060101010101" charset="-122"/>
              </a:rPr>
              <a:t>4371 / 126800  ≈ 3%</a:t>
            </a:r>
            <a:endParaRPr sz="108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48015" y="1883410"/>
            <a:ext cx="2926080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EA580C"/>
                </a:solidFill>
                <a:latin typeface="黑体" panose="02010609060101010101" charset="-122"/>
              </a:rPr>
              <a:t>LUT 高 + FF 低</a:t>
            </a:r>
            <a:endParaRPr sz="1600" b="1">
              <a:solidFill>
                <a:srgbClr val="EA580C"/>
              </a:solidFill>
              <a:latin typeface="黑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27870" y="2486660"/>
            <a:ext cx="337820" cy="30226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ctr"/>
            <a:r>
              <a:rPr sz="160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6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92440" y="2889885"/>
            <a:ext cx="320040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16A34A"/>
                </a:solidFill>
                <a:latin typeface="黑体" panose="02010609060101010101" charset="-122"/>
              </a:rPr>
              <a:t>组合逻辑太重</a:t>
            </a:r>
            <a:br>
              <a:rPr sz="1500" b="1">
                <a:solidFill>
                  <a:srgbClr val="16A34A"/>
                </a:solidFill>
                <a:latin typeface="黑体" panose="02010609060101010101" charset="-122"/>
              </a:rPr>
            </a:br>
            <a:r>
              <a:rPr sz="1500" b="1">
                <a:solidFill>
                  <a:srgbClr val="16A34A"/>
                </a:solidFill>
                <a:latin typeface="黑体" panose="02010609060101010101" charset="-122"/>
              </a:rPr>
              <a:t>不是寄存器太多</a:t>
            </a:r>
            <a:endParaRPr sz="150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120" y="429768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像素渲染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71800" y="429768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tile 判断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983480" y="429768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字体/菜单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0120" y="4828032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sprite 命中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71800" y="4828032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图层优先级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83480" y="4828032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0">
                <a:solidFill>
                  <a:srgbClr val="0B1F33"/>
                </a:solidFill>
                <a:latin typeface="黑体" panose="02010609060101010101" charset="-122"/>
              </a:rPr>
              <a:t>case/if/function</a:t>
            </a:r>
            <a:endParaRPr sz="10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优化方向：适当增加 FF，用 staging / pipeline 切短组合路径。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资源分析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为什么 VGA 游戏容易 LUT 高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每个像素都要判断背景、地图、对象、文字和图层优先级。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18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3017520" cy="3474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当前像素 (x,y)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50008" y="1728216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1892808"/>
            <a:ext cx="3017520" cy="3474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0">
                <a:solidFill>
                  <a:srgbClr val="0B1F33"/>
                </a:solidFill>
                <a:latin typeface="黑体" panose="02010609060101010101" charset="-122"/>
              </a:rPr>
              <a:t>可见区？</a:t>
            </a:r>
            <a:endParaRPr sz="114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0008" y="2203704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2368296"/>
            <a:ext cx="301752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0">
                <a:solidFill>
                  <a:srgbClr val="0B1F33"/>
                </a:solidFill>
                <a:latin typeface="黑体" panose="02010609060101010101" charset="-122"/>
              </a:rPr>
              <a:t>背景 / 地图 tile？</a:t>
            </a:r>
            <a:endParaRPr sz="114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50008" y="2679192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2843784"/>
            <a:ext cx="301752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0">
                <a:solidFill>
                  <a:srgbClr val="0B1F33"/>
                </a:solidFill>
                <a:latin typeface="黑体" panose="02010609060101010101" charset="-122"/>
              </a:rPr>
              <a:t>玩家 / 敌人？</a:t>
            </a:r>
            <a:endParaRPr sz="114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50008" y="3154680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3319272"/>
            <a:ext cx="3017520" cy="34747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0">
                <a:solidFill>
                  <a:srgbClr val="0B1F33"/>
                </a:solidFill>
                <a:latin typeface="黑体" panose="02010609060101010101" charset="-122"/>
              </a:rPr>
              <a:t>子弹 / 道具？</a:t>
            </a:r>
            <a:endParaRPr sz="114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50008" y="3630168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" y="3794760"/>
            <a:ext cx="3017520" cy="3474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0">
                <a:solidFill>
                  <a:srgbClr val="0B1F33"/>
                </a:solidFill>
                <a:latin typeface="黑体" panose="02010609060101010101" charset="-122"/>
              </a:rPr>
              <a:t>文字 / UI？</a:t>
            </a:r>
            <a:endParaRPr sz="114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50008" y="4105656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4270248"/>
            <a:ext cx="3017520" cy="3474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0">
                <a:solidFill>
                  <a:srgbClr val="0B1F33"/>
                </a:solidFill>
                <a:latin typeface="黑体" panose="02010609060101010101" charset="-122"/>
              </a:rPr>
              <a:t>图层优先级</a:t>
            </a:r>
            <a:endParaRPr sz="114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50008" y="4581144"/>
            <a:ext cx="14630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95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" y="4745736"/>
            <a:ext cx="301752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40" b="1">
                <a:solidFill>
                  <a:srgbClr val="0B1F33"/>
                </a:solidFill>
                <a:latin typeface="黑体" panose="02010609060101010101" charset="-122"/>
              </a:rPr>
              <a:t>RGB</a:t>
            </a:r>
            <a:endParaRPr sz="114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46520" y="1828800"/>
            <a:ext cx="416052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每个像素周期都要判断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6520" y="2450592"/>
            <a:ext cx="416052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对象越多，比较器越多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46520" y="3072384"/>
            <a:ext cx="416052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图层越多，mux 越深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46520" y="3694176"/>
            <a:ext cx="4160520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80" b="0">
                <a:solidFill>
                  <a:srgbClr val="0B1F33"/>
                </a:solidFill>
                <a:latin typeface="黑体" panose="02010609060101010101" charset="-122"/>
              </a:rPr>
              <a:t>组合路径越长，WNS 越紧</a:t>
            </a:r>
            <a:endParaRPr sz="118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时序优化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时序问题：代码能综合，不代表能按 100MHz 跑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WNS 为负说明至少一条寄存器到寄存器路径来不及。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19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86200" y="1572768"/>
            <a:ext cx="43891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D4ED8"/>
                </a:solidFill>
                <a:latin typeface="黑体" panose="02010609060101010101" charset="-122"/>
              </a:rPr>
              <a:t>100MHz 周期 = 10ns</a:t>
            </a:r>
            <a:endParaRPr sz="200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43000" y="2743200"/>
            <a:ext cx="141732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黑体" panose="02010609060101010101" charset="-122"/>
              </a:rPr>
              <a:t>寄存器 A</a:t>
            </a:r>
            <a:endParaRPr sz="13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51960" y="2468880"/>
            <a:ext cx="2240280" cy="960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黑体" panose="02010609060101010101" charset="-122"/>
              </a:rPr>
              <a:t>组合逻辑</a:t>
            </a:r>
            <a:br>
              <a:rPr sz="130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300" b="1">
                <a:solidFill>
                  <a:srgbClr val="0B1F33"/>
                </a:solidFill>
                <a:latin typeface="黑体" panose="02010609060101010101" charset="-122"/>
              </a:rPr>
              <a:t>比较 / mux / case</a:t>
            </a:r>
            <a:endParaRPr sz="13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3879" y="2743200"/>
            <a:ext cx="141732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黑体" panose="02010609060101010101" charset="-122"/>
              </a:rPr>
              <a:t>寄存器 B</a:t>
            </a:r>
            <a:endParaRPr sz="13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834640" y="2926080"/>
            <a:ext cx="502920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812280" y="2926080"/>
            <a:ext cx="502920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54480" y="4251960"/>
            <a:ext cx="278892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DC2626"/>
                </a:solidFill>
                <a:latin typeface="黑体" panose="02010609060101010101" charset="-122"/>
              </a:rPr>
              <a:t>WNS &lt; 0</a:t>
            </a:r>
            <a:br>
              <a:rPr sz="1330" b="1">
                <a:solidFill>
                  <a:srgbClr val="DC2626"/>
                </a:solidFill>
                <a:latin typeface="黑体" panose="02010609060101010101" charset="-122"/>
              </a:rPr>
            </a:br>
            <a:r>
              <a:rPr sz="1330" b="1">
                <a:solidFill>
                  <a:srgbClr val="DC2626"/>
                </a:solidFill>
                <a:latin typeface="黑体" panose="02010609060101010101" charset="-122"/>
              </a:rPr>
              <a:t>至少一条路径超时</a:t>
            </a:r>
            <a:endParaRPr sz="1330" b="1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89320" y="4251960"/>
            <a:ext cx="315468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0B1F33"/>
                </a:solidFill>
                <a:latin typeface="黑体" panose="02010609060101010101" charset="-122"/>
              </a:rPr>
              <a:t>TNS = 所有失败路径</a:t>
            </a:r>
            <a:br>
              <a:rPr sz="133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330" b="1">
                <a:solidFill>
                  <a:srgbClr val="0B1F33"/>
                </a:solidFill>
                <a:latin typeface="黑体" panose="02010609060101010101" charset="-122"/>
              </a:rPr>
              <a:t>负 slack 总和</a:t>
            </a:r>
            <a:endParaRPr sz="133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时序优化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从真实负 slack 到 post-route 收敛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先去掉宽泛例外暴露真实基线，再通过 RTL staging 把 WNS 拉正。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20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233172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DC2626"/>
                </a:solidFill>
                <a:latin typeface="黑体" panose="02010609060101010101" charset="-122"/>
              </a:rPr>
              <a:t>Before</a:t>
            </a:r>
            <a:br>
              <a:rPr sz="1500" b="1">
                <a:solidFill>
                  <a:srgbClr val="DC2626"/>
                </a:solidFill>
                <a:latin typeface="黑体" panose="02010609060101010101" charset="-122"/>
              </a:rPr>
            </a:br>
            <a:r>
              <a:rPr sz="1500" b="1">
                <a:solidFill>
                  <a:srgbClr val="DC2626"/>
                </a:solidFill>
                <a:latin typeface="黑体" panose="02010609060101010101" charset="-122"/>
              </a:rPr>
              <a:t>真实基线</a:t>
            </a:r>
            <a:endParaRPr sz="1500" b="1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21488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20">
                <a:solidFill>
                  <a:srgbClr val="DC2626"/>
                </a:solidFill>
                <a:latin typeface="黑体" panose="02010609060101010101" charset="-122"/>
              </a:rPr>
              <a:t>WNS = -0.445 ns</a:t>
            </a:r>
            <a:endParaRPr sz="1320">
              <a:solidFill>
                <a:srgbClr val="DC2626"/>
              </a:solidFill>
              <a:latin typeface="黑体" panose="02010609060101010101" charset="-122"/>
            </a:endParaRPr>
          </a:p>
          <a:p>
            <a:pPr>
              <a:lnSpc>
                <a:spcPct val="108000"/>
              </a:lnSpc>
            </a:pPr>
            <a:r>
              <a:rPr sz="1320">
                <a:solidFill>
                  <a:srgbClr val="DC2626"/>
                </a:solidFill>
                <a:latin typeface="黑体" panose="02010609060101010101" charset="-122"/>
              </a:rPr>
              <a:t>TNS = -18.104 ns</a:t>
            </a:r>
            <a:endParaRPr sz="1320">
              <a:solidFill>
                <a:srgbClr val="DC2626"/>
              </a:solidFill>
              <a:latin typeface="黑体" panose="02010609060101010101" charset="-122"/>
            </a:endParaRPr>
          </a:p>
          <a:p>
            <a:pPr>
              <a:lnSpc>
                <a:spcPct val="108000"/>
              </a:lnSpc>
            </a:pPr>
            <a:r>
              <a:rPr sz="1320">
                <a:solidFill>
                  <a:srgbClr val="DC2626"/>
                </a:solidFill>
                <a:latin typeface="黑体" panose="02010609060101010101" charset="-122"/>
              </a:rPr>
              <a:t>failing endpoints = 94</a:t>
            </a:r>
            <a:endParaRPr sz="1320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15400" y="1554480"/>
            <a:ext cx="233172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16A34A"/>
                </a:solidFill>
                <a:latin typeface="黑体" panose="02010609060101010101" charset="-122"/>
              </a:rPr>
              <a:t>After</a:t>
            </a:r>
            <a:br>
              <a:rPr sz="1500" b="1">
                <a:solidFill>
                  <a:srgbClr val="16A34A"/>
                </a:solidFill>
                <a:latin typeface="黑体" panose="02010609060101010101" charset="-122"/>
              </a:rPr>
            </a:br>
            <a:r>
              <a:rPr sz="1500" b="1">
                <a:solidFill>
                  <a:srgbClr val="16A34A"/>
                </a:solidFill>
                <a:latin typeface="黑体" panose="02010609060101010101" charset="-122"/>
              </a:rPr>
              <a:t>post-route</a:t>
            </a:r>
            <a:endParaRPr sz="150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98280" y="2240280"/>
            <a:ext cx="21488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20">
                <a:solidFill>
                  <a:srgbClr val="16A34A"/>
                </a:solidFill>
                <a:latin typeface="黑体" panose="02010609060101010101" charset="-122"/>
              </a:rPr>
              <a:t>WNS = +0.174 ns</a:t>
            </a:r>
            <a:endParaRPr sz="1320">
              <a:solidFill>
                <a:srgbClr val="16A34A"/>
              </a:solidFill>
              <a:latin typeface="黑体" panose="02010609060101010101" charset="-122"/>
            </a:endParaRPr>
          </a:p>
          <a:p>
            <a:pPr>
              <a:lnSpc>
                <a:spcPct val="108000"/>
              </a:lnSpc>
            </a:pPr>
            <a:r>
              <a:rPr sz="1320">
                <a:solidFill>
                  <a:srgbClr val="16A34A"/>
                </a:solidFill>
                <a:latin typeface="黑体" panose="02010609060101010101" charset="-122"/>
              </a:rPr>
              <a:t>TNS = 0.000 ns</a:t>
            </a:r>
            <a:endParaRPr sz="1320">
              <a:solidFill>
                <a:srgbClr val="16A34A"/>
              </a:solidFill>
              <a:latin typeface="黑体" panose="02010609060101010101" charset="-122"/>
            </a:endParaRPr>
          </a:p>
          <a:p>
            <a:pPr>
              <a:lnSpc>
                <a:spcPct val="108000"/>
              </a:lnSpc>
            </a:pPr>
            <a:r>
              <a:rPr sz="1320">
                <a:solidFill>
                  <a:srgbClr val="16A34A"/>
                </a:solidFill>
                <a:latin typeface="黑体" panose="02010609060101010101" charset="-122"/>
              </a:rPr>
              <a:t>failing endpoints = 0</a:t>
            </a:r>
            <a:endParaRPr sz="1320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4069080"/>
            <a:ext cx="1463040" cy="51206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80" b="1">
                <a:solidFill>
                  <a:srgbClr val="0B1F33"/>
                </a:solidFill>
                <a:latin typeface="黑体" panose="02010609060101010101" charset="-122"/>
              </a:rPr>
              <a:t>暴露真实基线</a:t>
            </a:r>
            <a:endParaRPr sz="9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2459736" y="4261104"/>
            <a:ext cx="228600" cy="8229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80" y="4069080"/>
            <a:ext cx="1463040" cy="51206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80" b="1">
                <a:solidFill>
                  <a:srgbClr val="0B1F33"/>
                </a:solidFill>
                <a:latin typeface="黑体" panose="02010609060101010101" charset="-122"/>
              </a:rPr>
              <a:t>Slot2 staging</a:t>
            </a:r>
            <a:endParaRPr sz="9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242816" y="4261104"/>
            <a:ext cx="228600" cy="8229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4069080"/>
            <a:ext cx="1463040" cy="51206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80" b="1">
                <a:solidFill>
                  <a:srgbClr val="0B1F33"/>
                </a:solidFill>
                <a:latin typeface="黑体" panose="02010609060101010101" charset="-122"/>
              </a:rPr>
              <a:t>Slot3 try_x/y</a:t>
            </a:r>
            <a:endParaRPr sz="9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6025896" y="4261104"/>
            <a:ext cx="228600" cy="8229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1463040" cy="51206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80" b="1">
                <a:solidFill>
                  <a:srgbClr val="0B1F33"/>
                </a:solidFill>
                <a:latin typeface="黑体" panose="02010609060101010101" charset="-122"/>
              </a:rPr>
              <a:t>Slot4 probe/eval/apply</a:t>
            </a:r>
            <a:endParaRPr sz="9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808976" y="4261104"/>
            <a:ext cx="228600" cy="8229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4069080"/>
            <a:ext cx="1463040" cy="51206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80" b="1">
                <a:solidFill>
                  <a:srgbClr val="0B1F33"/>
                </a:solidFill>
                <a:latin typeface="黑体" panose="02010609060101010101" charset="-122"/>
              </a:rPr>
              <a:t>窄范围 VGA multicycle</a:t>
            </a:r>
            <a:endParaRPr sz="9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9592056" y="4261104"/>
            <a:ext cx="228600" cy="8229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9800" y="4069080"/>
            <a:ext cx="1463040" cy="51206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80" b="1">
                <a:solidFill>
                  <a:srgbClr val="0B1F33"/>
                </a:solidFill>
                <a:latin typeface="黑体" panose="02010609060101010101" charset="-122"/>
              </a:rPr>
              <a:t>post-route 收敛</a:t>
            </a:r>
            <a:endParaRPr sz="9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关键不是掩盖问题，而是先暴露真实路径，再通过 RTL 结构切短组合逻辑。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时序优化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三个优化案例：把一拍大计算拆成多拍小计算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用户可见行为不变，但每拍组合逻辑变短。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21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33832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Slot2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9144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1">
                <a:solidFill>
                  <a:srgbClr val="DC2626"/>
                </a:solidFill>
                <a:latin typeface="黑体" panose="02010609060101010101" charset="-122"/>
              </a:rPr>
              <a:t>Before</a:t>
            </a:r>
            <a:endParaRPr sz="1080" b="1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2542032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一拍 ghost/lock 大计算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1463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1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3584448"/>
            <a:ext cx="91440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1">
                <a:solidFill>
                  <a:srgbClr val="16A34A"/>
                </a:solidFill>
                <a:latin typeface="黑体" panose="02010609060101010101" charset="-122"/>
              </a:rPr>
              <a:t>After</a:t>
            </a:r>
            <a:endParaRPr sz="108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2880360" cy="78638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ghost 迭代 + lock row-by-row</a:t>
            </a:r>
            <a:br>
              <a:rPr sz="1050" b="0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+ video staging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80560" y="1508760"/>
            <a:ext cx="33832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Slot3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09160" y="2148840"/>
            <a:ext cx="9144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1">
                <a:solidFill>
                  <a:srgbClr val="DC2626"/>
                </a:solidFill>
                <a:latin typeface="黑体" panose="02010609060101010101" charset="-122"/>
              </a:rPr>
              <a:t>Before</a:t>
            </a:r>
            <a:endParaRPr sz="1080" b="1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709160" y="2542032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输入→地图判断→位置回写长路径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8192" y="3273552"/>
            <a:ext cx="1463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1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09160" y="3584448"/>
            <a:ext cx="91440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1">
                <a:solidFill>
                  <a:srgbClr val="16A34A"/>
                </a:solidFill>
                <a:latin typeface="黑体" panose="02010609060101010101" charset="-122"/>
              </a:rPr>
              <a:t>After</a:t>
            </a:r>
            <a:endParaRPr sz="108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09160" y="3977639"/>
            <a:ext cx="2880360" cy="78638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`try_x/try_y` 寄存</a:t>
            </a:r>
            <a:br>
              <a:rPr sz="1050" b="0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下一拍 walkable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75320" y="1508760"/>
            <a:ext cx="33832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黑体" panose="02010609060101010101" charset="-122"/>
              </a:rPr>
              <a:t>Slot4</a:t>
            </a:r>
            <a:endParaRPr sz="150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03920" y="2148840"/>
            <a:ext cx="9144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1">
                <a:solidFill>
                  <a:srgbClr val="DC2626"/>
                </a:solidFill>
                <a:latin typeface="黑体" panose="02010609060101010101" charset="-122"/>
              </a:rPr>
              <a:t>Before</a:t>
            </a:r>
            <a:endParaRPr sz="1080" b="1">
              <a:solidFill>
                <a:srgbClr val="DC2626"/>
              </a:solidFill>
              <a:latin typeface="黑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503920" y="2542032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tile 碰撞一拍完成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02952" y="3273552"/>
            <a:ext cx="14630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26070"/>
                </a:solidFill>
                <a:latin typeface="黑体" panose="02010609060101010101" charset="-122"/>
              </a:rPr>
              <a:t>↓</a:t>
            </a:r>
            <a:endParaRPr sz="11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503920" y="3584448"/>
            <a:ext cx="91440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80" b="1">
                <a:solidFill>
                  <a:srgbClr val="16A34A"/>
                </a:solidFill>
                <a:latin typeface="黑体" panose="02010609060101010101" charset="-122"/>
              </a:rPr>
              <a:t>After</a:t>
            </a:r>
            <a:endParaRPr sz="108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03920" y="3977639"/>
            <a:ext cx="2880360" cy="78638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TEST / EVAL / APPLY</a:t>
            </a:r>
            <a:br>
              <a:rPr sz="1050" b="0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050" b="0">
                <a:solidFill>
                  <a:srgbClr val="0B1F33"/>
                </a:solidFill>
                <a:latin typeface="黑体" panose="02010609060101010101" charset="-122"/>
              </a:rPr>
              <a:t>三阶段推进</a:t>
            </a:r>
            <a:endParaRPr sz="1050" b="0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9808" y="5806440"/>
            <a:ext cx="10652760" cy="393192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30" b="1">
                <a:solidFill>
                  <a:srgbClr val="1D4ED8"/>
                </a:solidFill>
                <a:latin typeface="黑体" panose="02010609060101010101" charset="-122"/>
              </a:rPr>
              <a:t>共同结果：用户可见行为保持不变，但单拍组合逻辑变短。</a:t>
            </a:r>
            <a:endParaRPr sz="1330" b="1">
              <a:solidFill>
                <a:srgbClr val="1D4ED8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0891B2"/>
                </a:solidFill>
                <a:latin typeface="黑体" panose="02010609060101010101" charset="-122"/>
              </a:rPr>
              <a:t>总结</a:t>
            </a:r>
            <a:endParaRPr sz="950" b="1">
              <a:solidFill>
                <a:srgbClr val="0891B2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50" b="1">
                <a:solidFill>
                  <a:srgbClr val="0B1F33"/>
                </a:solidFill>
                <a:latin typeface="黑体" panose="02010609060101010101" charset="-122"/>
              </a:rPr>
              <a:t>学习收获：从功能实现到工程实现</a:t>
            </a:r>
            <a:endParaRPr sz="235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10241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黑体" panose="02010609060101010101" charset="-122"/>
              </a:rPr>
              <a:t>真正的 FPGA 产品要同时满足显示、输入、架构、资源和时序。</a:t>
            </a:r>
            <a:endParaRPr sz="128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438912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黑体" panose="02010609060101010101" charset="-122"/>
              </a:rPr>
              <a:t>22</a:t>
            </a:r>
            <a:endParaRPr sz="100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42832" y="6455664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20" b="0">
                <a:solidFill>
                  <a:srgbClr val="526070"/>
                </a:solidFill>
                <a:latin typeface="黑体" panose="02010609060101010101" charset="-122"/>
              </a:rPr>
              <a:t>“学”：VGA Game Console</a:t>
            </a:r>
            <a:endParaRPr sz="820" b="0">
              <a:solidFill>
                <a:srgbClr val="526070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965960"/>
            <a:ext cx="2057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VGA</a:t>
            </a:r>
            <a:br>
              <a:rPr sz="128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实时像素扫描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17520" y="1965960"/>
            <a:ext cx="2057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菜单</a:t>
            </a:r>
            <a:br>
              <a:rPr sz="128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坐标判断与图层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85231" y="1965960"/>
            <a:ext cx="2057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PS/2</a:t>
            </a:r>
            <a:br>
              <a:rPr sz="128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协议解析到事件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552944" y="1965960"/>
            <a:ext cx="2057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Slot API</a:t>
            </a:r>
            <a:br>
              <a:rPr sz="128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平台化接入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820656" y="1965960"/>
            <a:ext cx="2057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Timing</a:t>
            </a:r>
            <a:br>
              <a:rPr sz="1280" b="1">
                <a:solidFill>
                  <a:srgbClr val="0B1F33"/>
                </a:solidFill>
                <a:latin typeface="黑体" panose="02010609060101010101" charset="-122"/>
              </a:rPr>
            </a:br>
            <a:r>
              <a:rPr sz="1280" b="1">
                <a:solidFill>
                  <a:srgbClr val="0B1F33"/>
                </a:solidFill>
                <a:latin typeface="黑体" panose="02010609060101010101" charset="-122"/>
              </a:rPr>
              <a:t>post-route 收敛</a:t>
            </a:r>
            <a:endParaRPr sz="1280" b="1">
              <a:solidFill>
                <a:srgbClr val="0B1F33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63040" y="3977639"/>
            <a:ext cx="9144000" cy="8046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6A34A"/>
                </a:solidFill>
                <a:latin typeface="黑体" panose="02010609060101010101" charset="-122"/>
              </a:rPr>
              <a:t>从“写出能工作的游戏”</a:t>
            </a:r>
            <a:br>
              <a:rPr sz="1600" b="1">
                <a:solidFill>
                  <a:srgbClr val="16A34A"/>
                </a:solidFill>
                <a:latin typeface="黑体" panose="02010609060101010101" charset="-122"/>
              </a:rPr>
            </a:br>
            <a:r>
              <a:rPr sz="1600" b="1">
                <a:solidFill>
                  <a:srgbClr val="16A34A"/>
                </a:solidFill>
                <a:latin typeface="黑体" panose="02010609060101010101" charset="-122"/>
              </a:rPr>
              <a:t>到“设计能显示、能输入、能扩展、能优化、能生成 bitstream 的 FPGA 产品”</a:t>
            </a:r>
            <a:endParaRPr sz="1600" b="1">
              <a:solidFill>
                <a:srgbClr val="16A34A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6099</Words>
  <Application>WPS 演示</Application>
  <PresentationFormat>On-screen Show (4:3)</PresentationFormat>
  <Paragraphs>766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Arial</vt:lpstr>
      <vt:lpstr>黑体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杨龙驹</cp:lastModifiedBy>
  <cp:revision>2</cp:revision>
  <dcterms:created xsi:type="dcterms:W3CDTF">2013-01-27T09:14:00Z</dcterms:created>
  <dcterms:modified xsi:type="dcterms:W3CDTF">2026-06-10T07:02:02Z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52ACEF80117F4D88853EA5F7568B9AD9_12</vt:lpwstr>
  </property>
  <property fmtid="{D5CDD505-2E9C-101B-9397-08002B2CF9AE}" pid="3" name="KSOProductBuildVer">
    <vt:lpwstr>2052-12.1.0.26895</vt:lpwstr>
  </property>
</Properties>
</file>