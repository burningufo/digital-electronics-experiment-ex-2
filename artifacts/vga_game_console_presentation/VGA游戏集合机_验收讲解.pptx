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9669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900" b="1">
                <a:solidFill>
                  <a:srgbClr val="FFFFFF"/>
                </a:solidFill>
                <a:latin typeface="SimHei"/>
              </a:rPr>
              <a:t>“学”：基于 Nexys A7 的 VGA 游戏集合机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8686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CBD5E1"/>
                </a:solidFill>
                <a:latin typeface="SimHei"/>
              </a:rPr>
              <a:t>从 VGA 显示、PS/2 输入到资源分析与时序收敛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21408"/>
            <a:ext cx="2011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93C5FD"/>
                </a:solidFill>
                <a:latin typeface="SimHei"/>
              </a:rPr>
              <a:t>Nexys A7-100T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5623560"/>
            <a:ext cx="11887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imHei"/>
              </a:rPr>
              <a:t>VGA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5623560"/>
            <a:ext cx="11887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imHei"/>
              </a:rPr>
              <a:t>PS2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5623560"/>
            <a:ext cx="11887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imHei"/>
              </a:rPr>
              <a:t>Game Slot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64608" y="5623560"/>
            <a:ext cx="11887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imHei"/>
              </a:rPr>
              <a:t>LUT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5623560"/>
            <a:ext cx="11887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imHei"/>
              </a:rPr>
              <a:t>WNS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148840"/>
            <a:ext cx="1965960" cy="105156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SimHei"/>
              </a:rPr>
              <a:t>FPGA</a:t>
            </a:r>
            <a:br/>
            <a:r>
              <a:rPr sz="1700" b="1">
                <a:solidFill>
                  <a:srgbClr val="FFFFFF"/>
                </a:solidFill>
                <a:latin typeface="SimHei"/>
              </a:rPr>
              <a:t>Game Console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05840"/>
            <a:ext cx="1234440" cy="685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imHei"/>
              </a:rPr>
              <a:t>VGA</a:t>
            </a:r>
            <a:br/>
            <a:r>
              <a:rPr sz="1300" b="1">
                <a:solidFill>
                  <a:srgbClr val="FFFFFF"/>
                </a:solidFill>
                <a:latin typeface="SimHei"/>
              </a:rPr>
              <a:t>640x480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005840"/>
            <a:ext cx="1325880" cy="68580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imHei"/>
              </a:rPr>
              <a:t>PS/2</a:t>
            </a:r>
            <a:br/>
            <a:r>
              <a:rPr sz="1300" b="1">
                <a:solidFill>
                  <a:srgbClr val="FFFFFF"/>
                </a:solidFill>
                <a:latin typeface="SimHei"/>
              </a:rPr>
              <a:t>Keyboard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4005072"/>
            <a:ext cx="91440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FFFFFF"/>
                </a:solidFill>
                <a:latin typeface="SimHei"/>
              </a:rPr>
              <a:t>Slot1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005072"/>
            <a:ext cx="91440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FFFFFF"/>
                </a:solidFill>
                <a:latin typeface="SimHei"/>
              </a:rPr>
              <a:t>Slot2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005072"/>
            <a:ext cx="91440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FFFFFF"/>
                </a:solidFill>
                <a:latin typeface="SimHei"/>
              </a:rPr>
              <a:t>Slot3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4005072"/>
            <a:ext cx="91440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FFFFFF"/>
                </a:solidFill>
                <a:latin typeface="SimHei"/>
              </a:rPr>
              <a:t>Slot4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236208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94A3B8"/>
                </a:solidFill>
                <a:latin typeface="SimHei"/>
              </a:rPr>
              <a:t>课程验收汇报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这不是单个小游戏，而是一台 FPGA 游戏集合机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从用户角度，它有统一入口、统一输入和返回路径。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60020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上电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04872" y="190195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691640"/>
            <a:ext cx="160020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VGA 菜单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45152" y="190195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691640"/>
            <a:ext cx="160020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键盘选择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85432" y="190195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691640"/>
            <a:ext cx="1600200" cy="56692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启动游戏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25712" y="190195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691640"/>
            <a:ext cx="160020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ESC 返回菜单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2148840" cy="7132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TANK WAR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05072"/>
            <a:ext cx="7315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526070"/>
                </a:solidFill>
                <a:latin typeface="SimHei"/>
              </a:rPr>
              <a:t>slot1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3246120"/>
            <a:ext cx="2148840" cy="71323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GAME 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005072"/>
            <a:ext cx="7315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526070"/>
                </a:solidFill>
                <a:latin typeface="SimHei"/>
              </a:rPr>
              <a:t>slot2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46120"/>
            <a:ext cx="214884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GAME THREE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005072"/>
            <a:ext cx="7315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526070"/>
                </a:solidFill>
                <a:latin typeface="SimHei"/>
              </a:rPr>
              <a:t>slot3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246120"/>
            <a:ext cx="2148840" cy="71323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GAME FOUR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005072"/>
            <a:ext cx="7315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526070"/>
                </a:solidFill>
                <a:latin typeface="SimHei"/>
              </a:rPr>
              <a:t>slot4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526280"/>
            <a:ext cx="5852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D4ED8"/>
                </a:solidFill>
                <a:latin typeface="SimHei"/>
              </a:rPr>
              <a:t>统一入口 + 统一输入 + 统一返回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上电后先进入 VGA 菜单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PS/2 键盘选择并启动游戏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游戏中按 Esc 返回菜单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四个槽位：TANK WAR / GAME TWO / GAME THREE / GAME FOUR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我的学习路线：从能显示，到能优化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本次汇报按学习路径讲，不按文件列表讲。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389888"/>
            <a:ext cx="475488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VGA 显示原理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01368"/>
            <a:ext cx="182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103120"/>
            <a:ext cx="4754880" cy="4389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菜单渲染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514600"/>
            <a:ext cx="182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816352"/>
            <a:ext cx="475488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PS/2 键盘输入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27832"/>
            <a:ext cx="182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529584"/>
            <a:ext cx="475488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Game Slot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941064"/>
            <a:ext cx="182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4242816"/>
            <a:ext cx="4754880" cy="43891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资源占用分析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654296"/>
            <a:ext cx="182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956048"/>
            <a:ext cx="4754880" cy="4389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WNS 为负到 post-route 收敛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925312"/>
            <a:ext cx="6309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不是按文件顺序讲，而是按能力增长路径讲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先解释 VGA 实时像素扫描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再解释菜单渲染和 PS/2 输入事件化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然后说明 Game Slot API 的平台化意义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最后用资源和时序报告说明工程优化过程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主机 + 游戏槽位：game_console_top 如何组织系统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顶层提供公共服务，槽位只负责自身逻辑和画面。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98448"/>
            <a:ext cx="2926080" cy="7498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B1F33"/>
                </a:solidFill>
                <a:latin typeface="SimHei"/>
              </a:rPr>
              <a:t>game_console_top</a:t>
            </a:r>
            <a:br/>
            <a:r>
              <a:rPr sz="1600" b="1">
                <a:solidFill>
                  <a:srgbClr val="0B1F33"/>
                </a:solidFill>
                <a:latin typeface="SimHei"/>
              </a:rPr>
              <a:t>公共服务与输出仲裁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87168"/>
            <a:ext cx="3291840" cy="502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console_vga_sync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VGA 时序/坐标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2651760"/>
            <a:ext cx="32004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200400"/>
            <a:ext cx="3291840" cy="502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console_ps2_rx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PS/2 byte 接收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3364992"/>
            <a:ext cx="32004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913632"/>
            <a:ext cx="3291840" cy="502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console_menu_controller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菜单状态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60520" y="4078224"/>
            <a:ext cx="32004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626864"/>
            <a:ext cx="3291840" cy="502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console_menu_renderer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菜单 RGB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4791456"/>
            <a:ext cx="320040" cy="11887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99248" y="2651760"/>
            <a:ext cx="320040" cy="118872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487168"/>
            <a:ext cx="3291840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game_slot1_top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TANK WAR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99248" y="3364992"/>
            <a:ext cx="320040" cy="118872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3200400"/>
            <a:ext cx="3291840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game_slot2_top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GAME TWO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99248" y="4078224"/>
            <a:ext cx="320040" cy="118872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3913632"/>
            <a:ext cx="3291840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game_slot3_top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GAME THREE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699248" y="4791456"/>
            <a:ext cx="320040" cy="118872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4626864"/>
            <a:ext cx="3291840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game_slot4_top</a:t>
            </a:r>
            <a:br/>
            <a:r>
              <a:rPr sz="1150" b="0">
                <a:solidFill>
                  <a:srgbClr val="0B1F33"/>
                </a:solidFill>
                <a:latin typeface="SimHei"/>
              </a:rPr>
              <a:t>GAME FOUR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0512" y="2084831"/>
            <a:ext cx="1188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891B2"/>
                </a:solidFill>
                <a:latin typeface="SimHei"/>
              </a:rPr>
              <a:t>公共服务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084831"/>
            <a:ext cx="1188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SimHei"/>
              </a:rPr>
              <a:t>统一槽位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common 模块：VGA 同步、菜单渲染、PS/2 接收、菜单控制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slot1 到 slot4 使用统一端口接入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VGA、LED、七段管、蜂鸣器由顶层统一复用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VGA 的本质：每个像素周期输出一个颜色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FPGA 不是发送整张图片，而是扫描到哪里就实时给出哪里的 RGB。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463040"/>
            <a:ext cx="5989320" cy="3886200"/>
          </a:xfrm>
          <a:prstGeom prst="rect">
            <a:avLst/>
          </a:prstGeom>
          <a:solidFill>
            <a:srgbClr val="E2E8F0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73736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2130552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2523744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916936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3310128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3703320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4096512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4489704"/>
            <a:ext cx="5349240" cy="228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3063240"/>
            <a:ext cx="1417320" cy="5029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0B1F33"/>
                </a:solidFill>
                <a:latin typeface="SimHei"/>
              </a:rPr>
              <a:t>当前像素</a:t>
            </a:r>
            <a:br/>
            <a:r>
              <a:rPr sz="1150" b="1">
                <a:solidFill>
                  <a:srgbClr val="0B1F33"/>
                </a:solidFill>
                <a:latin typeface="SimHei"/>
              </a:rPr>
              <a:t>(pixel_x, pixel_y)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828800" y="1600200"/>
            <a:ext cx="4114800" cy="164592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1207008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左 → 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063240"/>
            <a:ext cx="365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上 ↓ 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600200"/>
            <a:ext cx="210312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VGA_R/G/B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当前颜色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743200"/>
            <a:ext cx="210312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VGA_HS / VGA_VS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同步脉冲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886200"/>
            <a:ext cx="2103120" cy="6858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display_active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可见区有效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`pixel_x / pixel_y` 表示当前扫描坐标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`display_active` 表示当前是否在 640x480 可见区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`VGA_R/G/B` 给出当前像素颜色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`VGA_HS / VGA_VS` 让显示器识别行和帧同步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console_vga_sync：用计数器生成像素坐标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VGA 控制器本质上是两个计数器加同步脉冲生成逻辑。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6492240" cy="42245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91440"/>
          <a:lstStyle/>
          <a:p>
            <a:pPr algn="ctr">
              <a:lnSpc>
                <a:spcPct val="90000"/>
              </a:lnSpc>
            </a:pPr>
            <a:r>
              <a:rPr sz="1140">
                <a:solidFill>
                  <a:srgbClr val="E2E8F0"/>
                </a:solidFill>
                <a:latin typeface="Consolas"/>
              </a:rPr>
              <a:t>// src/common/console_vga_sync.v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H_VISIBLE = 640;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H_FRONT   = 16;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H_SYNC    = 96;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H_BACK    = 48;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V_VISIBLE = 480;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V_FRONT   = 10;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V_SYNC    = 2;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localparam integer V_BACK    = 33;</a:t>
            </a:r>
            <a:br/>
            <a:br/>
            <a:r>
              <a:rPr sz="1140">
                <a:solidFill>
                  <a:srgbClr val="E2E8F0"/>
                </a:solidFill>
                <a:latin typeface="Consolas"/>
              </a:rPr>
              <a:t>reg [1:0] pix_div;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assign pixel_tick = (pix_div == 2'b11);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assign display_active = (h_count &lt; H_VISIBLE) &amp;&amp;</a:t>
            </a:r>
            <a:br/>
            <a:r>
              <a:rPr sz="1140">
                <a:solidFill>
                  <a:srgbClr val="E2E8F0"/>
                </a:solidFill>
                <a:latin typeface="Consolas"/>
              </a:rPr>
              <a:t>                        (v_count &lt; V_VISIBLE);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536192"/>
            <a:ext cx="3749039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420">
                <a:solidFill>
                  <a:srgbClr val="0B1F33"/>
                </a:solidFill>
                <a:latin typeface="SimHei"/>
              </a:rPr>
              <a:t>• 可见区为 640x480，扫描还包含 front/sync/back 消隐区</a:t>
            </a:r>
          </a:p>
          <a:p>
            <a:pPr>
              <a:lnSpc>
                <a:spcPct val="108000"/>
              </a:lnSpc>
            </a:pPr>
            <a:r>
              <a:rPr sz="1420">
                <a:solidFill>
                  <a:srgbClr val="0B1F33"/>
                </a:solidFill>
                <a:latin typeface="SimHei"/>
              </a:rPr>
              <a:t>• `pix_div` 每 4 个 100MHz 周期产生一次像素使能</a:t>
            </a:r>
          </a:p>
          <a:p>
            <a:pPr>
              <a:lnSpc>
                <a:spcPct val="108000"/>
              </a:lnSpc>
            </a:pPr>
            <a:r>
              <a:rPr sz="1420">
                <a:solidFill>
                  <a:srgbClr val="0B1F33"/>
                </a:solidFill>
                <a:latin typeface="SimHei"/>
              </a:rPr>
              <a:t>• `h_count/v_count` 同步推进，得到当前像素坐标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553712"/>
            <a:ext cx="182880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真实代码片段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074920"/>
            <a:ext cx="3657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26070"/>
                </a:solidFill>
                <a:latin typeface="SimHei"/>
              </a:rPr>
              <a:t>src/common/console_vga_sync.v:13</a:t>
            </a:r>
            <a:br/>
            <a:r>
              <a:rPr sz="1080" b="0">
                <a:solidFill>
                  <a:srgbClr val="526070"/>
                </a:solidFill>
                <a:latin typeface="SimHei"/>
              </a:rPr>
              <a:t>src/common/console_vga_sync.v:43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单时钟域设计：100MHz 主时钟 + pixel_tick 使能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没有新建 25MHz 时钟，而是用 clock enable 保持单时钟域。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828800"/>
            <a:ext cx="3200400" cy="8229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不推荐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100MHz + 新建 25MHz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200400"/>
            <a:ext cx="2651760" cy="65836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C2626"/>
                </a:solidFill>
                <a:latin typeface="SimHei"/>
              </a:rPr>
              <a:t>多时钟域</a:t>
            </a:r>
            <a:br/>
            <a:r>
              <a:rPr sz="1400" b="1">
                <a:solidFill>
                  <a:srgbClr val="DC2626"/>
                </a:solidFill>
                <a:latin typeface="SimHei"/>
              </a:rPr>
              <a:t>CDC/约束复杂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40" y="2761488"/>
            <a:ext cx="384048" cy="146304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301752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当前设计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100MHz 主时钟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87168"/>
            <a:ext cx="3017520" cy="566928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pixel_tick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clock enable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493008"/>
            <a:ext cx="3840480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VGA 坐标 / 菜单 / 槽位</a:t>
            </a:r>
            <a:br/>
            <a:r>
              <a:rPr sz="1400" b="1">
                <a:solidFill>
                  <a:srgbClr val="0B1F33"/>
                </a:solidFill>
                <a:latin typeface="SimHei"/>
              </a:rPr>
              <a:t>仍在单时钟域协作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26679" y="2139696"/>
            <a:ext cx="384048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726679" y="3154680"/>
            <a:ext cx="384048" cy="146304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5074920"/>
            <a:ext cx="6583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D4ED8"/>
                </a:solidFill>
                <a:latin typeface="SimHei"/>
              </a:rPr>
              <a:t>核心取舍：用使能控制节拍，而不是增加系统时钟域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板卡主时钟是 100MHz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`pixel_tick` 作为 VGA 像素推进使能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所有主要逻辑仍由 `CLK100MHZ` 驱动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时序约束和跨模块协作更清晰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菜单不是图片，而是一组像素级判断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菜单渲染同样是实时像素逻辑，也是 LUT 压力来源之一。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44752"/>
            <a:ext cx="5212080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91440"/>
          <a:lstStyle/>
          <a:p>
            <a:pPr algn="ctr">
              <a:lnSpc>
                <a:spcPct val="90000"/>
              </a:lnSpc>
            </a:pPr>
            <a:r>
              <a:rPr sz="1130">
                <a:solidFill>
                  <a:srgbClr val="E2E8F0"/>
                </a:solidFill>
                <a:latin typeface="Consolas"/>
              </a:rPr>
              <a:t>// src/common/console_menu_renderer.v 伪代码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if (!display_active)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    rgb = 12'h000;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else if (pixel 命中标题)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    rgb = title_color;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else if (pixel 命中菜单项文字)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    rgb = selected ? highlight_color : normal_text;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else if (pixel 命中边框)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    rgb = border_color;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else</a:t>
            </a:r>
            <a:br/>
            <a:r>
              <a:rPr sz="1130">
                <a:solidFill>
                  <a:srgbClr val="E2E8F0"/>
                </a:solidFill>
                <a:latin typeface="Consolas"/>
              </a:rPr>
              <a:t>    rgb = background_color;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08760"/>
            <a:ext cx="2377440" cy="4572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pixel_x/y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1938528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221991"/>
            <a:ext cx="2377440" cy="4572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区域判断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651759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935224"/>
            <a:ext cx="2377440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标题/菜单项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364991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48456"/>
            <a:ext cx="2377440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高亮/边框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4078224"/>
            <a:ext cx="1828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361688"/>
            <a:ext cx="237744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RGB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74920"/>
            <a:ext cx="42976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526070"/>
                </a:solidFill>
                <a:latin typeface="SimHei"/>
              </a:rPr>
              <a:t>菜单控制器给出 cursor，渲染器只负责把当前像素画对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菜单控制器决定“选谁”，渲染器决定“怎么画”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输入事件、菜单状态和像素渲染分层，顶层再做显示复用。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371600"/>
            <a:ext cx="3657600" cy="62179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0B1F33"/>
                </a:solidFill>
                <a:latin typeface="SimHei"/>
              </a:rPr>
              <a:t>console_ps2_rx</a:t>
            </a:r>
            <a:br/>
            <a:r>
              <a:rPr sz="1350" b="1">
                <a:solidFill>
                  <a:srgbClr val="0B1F33"/>
                </a:solidFill>
                <a:latin typeface="SimHei"/>
              </a:rPr>
              <a:t>byte_ready / byte_data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75104"/>
            <a:ext cx="182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359152"/>
            <a:ext cx="3657600" cy="6217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0B1F33"/>
                </a:solidFill>
                <a:latin typeface="SimHei"/>
              </a:rPr>
              <a:t>console_menu_controller</a:t>
            </a:r>
            <a:br/>
            <a:r>
              <a:rPr sz="1350" b="1">
                <a:solidFill>
                  <a:srgbClr val="0B1F33"/>
                </a:solidFill>
                <a:latin typeface="SimHei"/>
              </a:rPr>
              <a:t>cursor / game_sel / menu_active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962656"/>
            <a:ext cx="182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3346704"/>
            <a:ext cx="3657600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0B1F33"/>
                </a:solidFill>
                <a:latin typeface="SimHei"/>
              </a:rPr>
              <a:t>console_menu_renderer</a:t>
            </a:r>
            <a:br/>
            <a:r>
              <a:rPr sz="1350" b="1">
                <a:solidFill>
                  <a:srgbClr val="0B1F33"/>
                </a:solidFill>
                <a:latin typeface="SimHei"/>
              </a:rPr>
              <a:t>menu_vga_r/g/b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950208"/>
            <a:ext cx="182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334256"/>
            <a:ext cx="3657600" cy="62179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0B1F33"/>
                </a:solidFill>
                <a:latin typeface="SimHei"/>
              </a:rPr>
              <a:t>VGA 输出</a:t>
            </a:r>
            <a:br/>
            <a:r>
              <a:rPr sz="1350" b="1">
                <a:solidFill>
                  <a:srgbClr val="0B1F33"/>
                </a:solidFill>
                <a:latin typeface="SimHei"/>
              </a:rPr>
              <a:t>menu 或 active_slot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920240"/>
            <a:ext cx="1828800" cy="8412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控制逻辑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决定“选谁”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920240"/>
            <a:ext cx="1828800" cy="8412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渲染逻辑</a:t>
            </a:r>
            <a:br/>
            <a:r>
              <a:rPr sz="1500" b="1">
                <a:solidFill>
                  <a:srgbClr val="0B1F33"/>
                </a:solidFill>
                <a:latin typeface="SimHei"/>
              </a:rPr>
              <a:t>决定“怎么画”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657600"/>
            <a:ext cx="42062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526070"/>
                </a:solidFill>
                <a:latin typeface="SimHei"/>
              </a:rPr>
              <a:t>分层后，菜单状态、输入事件和像素绘制各自清晰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`console_ps2_rx` 输出 byte 事件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`console_menu_controller` 更新 `cursor / game_sel / menu_active`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`console_menu_renderer` 根据 `cursor` 和坐标输出菜单 RGB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顶层根据 `menu_active` 选择菜单或当前游戏画面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PS/2 输入不是按键电平，而是串行协议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键盘先发送扫描码，FPGA 必须先协议解析再事件化。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73152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9616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3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5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7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59" y="1874519"/>
            <a:ext cx="566928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D7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1" y="1874519"/>
            <a:ext cx="82296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Parity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1874519"/>
            <a:ext cx="658368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0B1F33"/>
                </a:solidFill>
                <a:latin typeface="SimHei"/>
              </a:rPr>
              <a:t>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417320"/>
            <a:ext cx="9875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6070"/>
                </a:solidFill>
                <a:latin typeface="SimHei"/>
              </a:rPr>
              <a:t>11 位 PS/2 帧：start → 8-bit scan code (LSB first) → parity → 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703320"/>
            <a:ext cx="2148840" cy="59436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20" b="1">
                <a:solidFill>
                  <a:srgbClr val="0B1F33"/>
                </a:solidFill>
                <a:latin typeface="SimHei"/>
              </a:rPr>
              <a:t>PS2_CLK / DATA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00400" y="391363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03320" y="3703320"/>
            <a:ext cx="214884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20" b="1">
                <a:solidFill>
                  <a:srgbClr val="0B1F33"/>
                </a:solidFill>
                <a:latin typeface="SimHei"/>
              </a:rPr>
              <a:t>下降沿采样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3600" y="391363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703320"/>
            <a:ext cx="214884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20" b="1">
                <a:solidFill>
                  <a:srgbClr val="0B1F33"/>
                </a:solidFill>
                <a:latin typeface="SimHei"/>
              </a:rPr>
              <a:t>shift_data[7:0]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86800" y="391363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89720" y="3703320"/>
            <a:ext cx="2148840" cy="5943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20" b="1">
                <a:solidFill>
                  <a:srgbClr val="0B1F33"/>
                </a:solidFill>
                <a:latin typeface="SimHei"/>
              </a:rPr>
              <a:t>byte_ready + byte_data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一帧包含 start、8 位 scan code、parity、stop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数据位 LSB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在 PS/2 时钟下降沿采样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底层只输出 `byte_ready + byte_data`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console_ps2_rx：下降沿采样并组装扫描码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这个模块只做协议层接收，不解释具体按键含义。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6492240" cy="42245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91440"/>
          <a:lstStyle/>
          <a:p>
            <a:pPr algn="ctr">
              <a:lnSpc>
                <a:spcPct val="90000"/>
              </a:lnSpc>
            </a:pPr>
            <a:r>
              <a:rPr sz="1070">
                <a:solidFill>
                  <a:srgbClr val="E2E8F0"/>
                </a:solidFill>
                <a:latin typeface="Consolas"/>
              </a:rPr>
              <a:t>// src/common/console_ps2_rx.v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assign ps2_clk_fall_next = ps2_clk_q &amp; ~ps2_clk_next;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assign ps2_parity_ok = (^shift_data) ^ parity_bit;</a:t>
            </a:r>
            <a:br/>
            <a:br/>
            <a:r>
              <a:rPr sz="1070">
                <a:solidFill>
                  <a:srgbClr val="E2E8F0"/>
                </a:solidFill>
                <a:latin typeface="Consolas"/>
              </a:rPr>
              <a:t>if (ps2_clk_fall_next) begin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case (bit_count)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4'd0: if (ps2_data_next == 1'b0)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          bit_count &lt;= 4'd1;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4'd1: begin shift_data[0] &lt;= ps2_data_next;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              bit_count &lt;= 4'd2; end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// ... shift_data[1] ~ shift_data[7], parity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4'd10: if (ps2_data_next == 1'b1 &amp;&amp;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           ps2_parity_ok) begin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           byte_data &lt;= shift_data;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           byte_ready &lt;= 1'b1;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           end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    endcase</a:t>
            </a:r>
            <a:br/>
            <a:r>
              <a:rPr sz="1070">
                <a:solidFill>
                  <a:srgbClr val="E2E8F0"/>
                </a:solidFill>
                <a:latin typeface="Consolas"/>
              </a:rPr>
              <a:t>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536192"/>
            <a:ext cx="3749039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420">
                <a:solidFill>
                  <a:srgbClr val="0B1F33"/>
                </a:solidFill>
                <a:latin typeface="SimHei"/>
              </a:rPr>
              <a:t>• PS/2 时钟和数据先同步并做历史滤波</a:t>
            </a:r>
          </a:p>
          <a:p>
            <a:pPr>
              <a:lnSpc>
                <a:spcPct val="108000"/>
              </a:lnSpc>
            </a:pPr>
            <a:r>
              <a:rPr sz="1420">
                <a:solidFill>
                  <a:srgbClr val="0B1F33"/>
                </a:solidFill>
                <a:latin typeface="SimHei"/>
              </a:rPr>
              <a:t>• `bit_count` 记录当前接收到帧的哪一位</a:t>
            </a:r>
          </a:p>
          <a:p>
            <a:pPr>
              <a:lnSpc>
                <a:spcPct val="108000"/>
              </a:lnSpc>
            </a:pPr>
            <a:r>
              <a:rPr sz="1420">
                <a:solidFill>
                  <a:srgbClr val="0B1F33"/>
                </a:solidFill>
                <a:latin typeface="SimHei"/>
              </a:rPr>
              <a:t>• 停止位为 1 且奇校验通过时产生 `byte_ready`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553712"/>
            <a:ext cx="182880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真实代码片段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074920"/>
            <a:ext cx="3657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26070"/>
                </a:solidFill>
                <a:latin typeface="SimHei"/>
              </a:rPr>
              <a:t>src/common/console_ps2_rx.v:12</a:t>
            </a:r>
            <a:br/>
            <a:r>
              <a:rPr sz="1080" b="0">
                <a:solidFill>
                  <a:srgbClr val="526070"/>
                </a:solidFill>
                <a:latin typeface="SimHei"/>
              </a:rPr>
              <a:t>src/common/console_ps2_rx.v:40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扫描码事件化：W/S、Enter、Esc 如何控制菜单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底层 byte 被转换成上移、下移、启动、返回这些系统事件。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89888"/>
            <a:ext cx="5897880" cy="42245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91440"/>
          <a:lstStyle/>
          <a:p>
            <a:pPr algn="ctr">
              <a:lnSpc>
                <a:spcPct val="90000"/>
              </a:lnSpc>
            </a:pPr>
            <a:r>
              <a:rPr sz="969">
                <a:solidFill>
                  <a:srgbClr val="E2E8F0"/>
                </a:solidFill>
                <a:latin typeface="Consolas"/>
              </a:rPr>
              <a:t>// src/common/console_menu_controller.v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SCAN_F0    = 8'hF0;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SCAN_E0    = 8'hE0;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SCAN_W     = 8'h1D;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SCAN_S     = 8'h1B;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SCAN_SPACE = 8'h29;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SCAN_ENTER = 8'h5A;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SCAN_ESC   = 8'h76;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SCAN_UP    = 8'h75;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localparam [7:0] SCAN_DOWN  = 8'h72;</a:t>
            </a:r>
            <a:br/>
            <a:br/>
            <a:r>
              <a:rPr sz="969">
                <a:solidFill>
                  <a:srgbClr val="E2E8F0"/>
                </a:solidFill>
                <a:latin typeface="Consolas"/>
              </a:rPr>
              <a:t>assign is_up_key = (byte_data == SCAN_W) ||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                   (byte_data == SCAN_UP);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assign is_start_key = (byte_data == SCAN_SPACE) ||</a:t>
            </a:r>
            <a:br/>
            <a:r>
              <a:rPr sz="969">
                <a:solidFill>
                  <a:srgbClr val="E2E8F0"/>
                </a:solidFill>
                <a:latin typeface="Consolas"/>
              </a:rPr>
              <a:t>                      (byte_data == SCAN_ENTER);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463040"/>
            <a:ext cx="15544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W /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517904"/>
            <a:ext cx="3200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463040"/>
            <a:ext cx="15544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光标上移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084832"/>
            <a:ext cx="15544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S /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39696"/>
            <a:ext cx="3200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084832"/>
            <a:ext cx="15544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光标下移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706624"/>
            <a:ext cx="15544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Enter /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761488"/>
            <a:ext cx="3200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706624"/>
            <a:ext cx="15544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启动游戏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28416"/>
            <a:ext cx="15544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Esc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383280"/>
            <a:ext cx="3200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328416"/>
            <a:ext cx="15544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返回菜单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950208"/>
            <a:ext cx="15544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F0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005072"/>
            <a:ext cx="3200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950208"/>
            <a:ext cx="15544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释放前缀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4572000"/>
            <a:ext cx="155448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E0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626864"/>
            <a:ext cx="3200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26070"/>
                </a:solidFill>
                <a:latin typeface="Sim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4572000"/>
            <a:ext cx="15544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B1F33"/>
                </a:solidFill>
                <a:latin typeface="SimHei"/>
              </a:rPr>
              <a:t>扩展键前缀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440680"/>
            <a:ext cx="4114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20" b="0">
                <a:solidFill>
                  <a:srgbClr val="526070"/>
                </a:solidFill>
                <a:latin typeface="SimHei"/>
              </a:rPr>
              <a:t>事件化让菜单不依赖 PS/2 物理细节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统一槽位 API：从“多个游戏”到“游戏平台”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每个游戏像卡带一样接入，顶层只依赖统一端口。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48840"/>
            <a:ext cx="2834640" cy="914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B1F33"/>
                </a:solidFill>
                <a:latin typeface="SimHei"/>
              </a:rPr>
              <a:t>Game Slot N</a:t>
            </a:r>
            <a:br/>
            <a:r>
              <a:rPr sz="1800" b="1">
                <a:solidFill>
                  <a:srgbClr val="0B1F33"/>
                </a:solidFill>
                <a:latin typeface="SimHei"/>
              </a:rPr>
              <a:t>像卡带一样接入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28803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clk / reset / selected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67912" y="1453895"/>
            <a:ext cx="347472" cy="10972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892807"/>
            <a:ext cx="28803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frame_tick / pixel_tick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67912" y="2020824"/>
            <a:ext cx="347472" cy="10972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459736"/>
            <a:ext cx="28803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display_active / pixel_x/y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67912" y="2587752"/>
            <a:ext cx="347472" cy="10972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026664"/>
            <a:ext cx="28803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ps2_byte_ready / 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67912" y="3154680"/>
            <a:ext cx="347472" cy="10972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593592"/>
            <a:ext cx="288036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btn / sw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67912" y="3721608"/>
            <a:ext cx="347472" cy="10972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818120" y="1682495"/>
            <a:ext cx="347472" cy="109728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02752" y="1554480"/>
            <a:ext cx="27432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vga_r / vga_g / vga_b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18120" y="2322576"/>
            <a:ext cx="347472" cy="109728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02752" y="2194560"/>
            <a:ext cx="27432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led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18120" y="2962656"/>
            <a:ext cx="347472" cy="109728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02752" y="2834639"/>
            <a:ext cx="27432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an / ca~dp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18120" y="3602736"/>
            <a:ext cx="347472" cy="109728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02752" y="3474720"/>
            <a:ext cx="274320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buzzer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983480"/>
            <a:ext cx="62179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D4ED8"/>
                </a:solidFill>
                <a:latin typeface="SimHei"/>
              </a:rPr>
              <a:t>接口稳定后，游戏内部实现可以独立替换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公共输入：`clk / reset / selected`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显示输入：`frame_tick / pixel_tick / display_active / pixel_x/y`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输入事件：`ps2_byte_ready / ps2_byte_data`、按钮和开关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统一输出：VGA RGB、LED、七段管、蜂鸣器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输出复用：菜单激活显示菜单，否则显示当前游戏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真实 VGA 端口只有一组，所有菜单和游戏画面都必须由顶层仲裁。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35024"/>
            <a:ext cx="5623560" cy="44074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91440"/>
          <a:lstStyle/>
          <a:p>
            <a:pPr algn="ctr">
              <a:lnSpc>
                <a:spcPct val="90000"/>
              </a:lnSpc>
            </a:pPr>
            <a:r>
              <a:rPr sz="930">
                <a:solidFill>
                  <a:srgbClr val="E2E8F0"/>
                </a:solidFill>
                <a:latin typeface="Consolas"/>
              </a:rPr>
              <a:t>// src/game_console_top.v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assign active_slot_vga_r = slot1_selected ? slot1_vga_r :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                   slot2_selected ? slot2_vga_r :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                   slot3_selected ? slot3_vga_r :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                                    slot4_vga_r;</a:t>
            </a:r>
            <a:br/>
            <a:br/>
            <a:r>
              <a:rPr sz="930">
                <a:solidFill>
                  <a:srgbClr val="E2E8F0"/>
                </a:solidFill>
                <a:latin typeface="Consolas"/>
              </a:rPr>
              <a:t>always @(*) begin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if (menu_active) begin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VGA_R = menu_vga_r_q;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VGA_G = menu_vga_g_q;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VGA_B = menu_vga_b_q;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end else begin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VGA_R = active_slot_vga_r;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VGA_G = active_slot_vga_g;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    VGA_B = active_slot_vga_b;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    end</a:t>
            </a:r>
            <a:br/>
            <a:r>
              <a:rPr sz="930">
                <a:solidFill>
                  <a:srgbClr val="E2E8F0"/>
                </a:solidFill>
                <a:latin typeface="Consolas"/>
              </a:rPr>
              <a:t>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481328"/>
            <a:ext cx="146304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0">
                <a:solidFill>
                  <a:srgbClr val="0B1F33"/>
                </a:solidFill>
                <a:latin typeface="SimHei"/>
              </a:rPr>
              <a:t>slot1 RGB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58200" y="1591056"/>
            <a:ext cx="292608" cy="914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956816"/>
            <a:ext cx="146304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0">
                <a:solidFill>
                  <a:srgbClr val="0B1F33"/>
                </a:solidFill>
                <a:latin typeface="SimHei"/>
              </a:rPr>
              <a:t>slot2 RGB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58200" y="2066544"/>
            <a:ext cx="292608" cy="914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2432304"/>
            <a:ext cx="146304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0">
                <a:solidFill>
                  <a:srgbClr val="0B1F33"/>
                </a:solidFill>
                <a:latin typeface="SimHei"/>
              </a:rPr>
              <a:t>slot3 RGB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58200" y="2542032"/>
            <a:ext cx="292608" cy="914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2907792"/>
            <a:ext cx="146304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0">
                <a:solidFill>
                  <a:srgbClr val="0B1F33"/>
                </a:solidFill>
                <a:latin typeface="SimHei"/>
              </a:rPr>
              <a:t>slot4 RGB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58200" y="3017520"/>
            <a:ext cx="292608" cy="914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2011680"/>
            <a:ext cx="1737360" cy="53035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20" b="1">
                <a:solidFill>
                  <a:srgbClr val="0B1F33"/>
                </a:solidFill>
                <a:latin typeface="SimHei"/>
              </a:rPr>
              <a:t>active_slot_rgb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822191"/>
            <a:ext cx="1463040" cy="3840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20" b="1">
                <a:solidFill>
                  <a:srgbClr val="0B1F33"/>
                </a:solidFill>
                <a:latin typeface="SimHei"/>
              </a:rPr>
              <a:t>menu RGB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58200" y="3950208"/>
            <a:ext cx="292608" cy="914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3657600"/>
            <a:ext cx="141732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20" b="1">
                <a:solidFill>
                  <a:srgbClr val="0B1F33"/>
                </a:solidFill>
                <a:latin typeface="SimHei"/>
              </a:rPr>
              <a:t>VGA_RGB</a:t>
            </a:r>
            <a:br/>
            <a:r>
              <a:rPr sz="1220" b="1">
                <a:solidFill>
                  <a:srgbClr val="0B1F33"/>
                </a:solidFill>
                <a:latin typeface="SimHei"/>
              </a:rPr>
              <a:t>真实端口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892040"/>
            <a:ext cx="3611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60" b="0">
                <a:solidFill>
                  <a:srgbClr val="526070"/>
                </a:solidFill>
                <a:latin typeface="SimHei"/>
              </a:rPr>
              <a:t>menu_active 选择最终输出源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资源报告告诉我：问题不是寄存器太多，而是组合逻辑太重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LUT 约 48%，FF 约 3%，说明组合路径和像素渲染是主要压力。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536192"/>
          <a:ext cx="52120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72440"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0B1F33"/>
                          </a:solidFill>
                          <a:latin typeface="SimHei"/>
                        </a:rPr>
                        <a:t>指标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0B1F33"/>
                          </a:solidFill>
                          <a:latin typeface="SimHei"/>
                        </a:rPr>
                        <a:t>使用量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0B1F33"/>
                          </a:solidFill>
                          <a:latin typeface="SimHei"/>
                        </a:rPr>
                        <a:t>占比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0B1F33"/>
                          </a:solidFill>
                          <a:latin typeface="SimHei"/>
                        </a:rPr>
                        <a:t>说明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LUT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30146 / 63400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约 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组合逻辑压力明显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4371 / 126800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约 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0B1F33"/>
                          </a:solidFill>
                          <a:latin typeface="SimHei"/>
                        </a:rPr>
                        <a:t>寄存器使用很少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417320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B1F33"/>
                </a:solidFill>
                <a:latin typeface="SimHei"/>
              </a:rPr>
              <a:t>资源占用比例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>
                <a:solidFill>
                  <a:srgbClr val="0B1F33"/>
                </a:solidFill>
                <a:latin typeface="SimHei"/>
              </a:rPr>
              <a:t>LUT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965960"/>
            <a:ext cx="32918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1965960"/>
            <a:ext cx="1580083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0" y="1947672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EA580C"/>
                </a:solidFill>
                <a:latin typeface="SimHei"/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33472"/>
            <a:ext cx="411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>
                <a:solidFill>
                  <a:srgbClr val="0B1F33"/>
                </a:solidFill>
                <a:latin typeface="SimHei"/>
              </a:rPr>
              <a:t>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651760"/>
            <a:ext cx="32918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2651760"/>
            <a:ext cx="98755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2633472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6A34A"/>
                </a:solidFill>
                <a:latin typeface="SimHei"/>
              </a:rPr>
              <a:t>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49039"/>
            <a:ext cx="219456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LUT 高 + FF 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60520"/>
            <a:ext cx="182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749039"/>
            <a:ext cx="2743200" cy="41148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0B1F33"/>
                </a:solidFill>
                <a:latin typeface="SimHei"/>
              </a:rPr>
              <a:t>大量逻辑在组合路径中展开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160520"/>
            <a:ext cx="182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749039"/>
            <a:ext cx="274320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0B1F33"/>
                </a:solidFill>
                <a:latin typeface="SimHei"/>
              </a:rPr>
              <a:t>用 staging / pipeline 切短路径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每个像素都要回答一个问题：这里该显示什么？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VGA 游戏的复杂度来自每个像素周期的坐标判断和图层优先级。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234440"/>
            <a:ext cx="288036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1">
                <a:solidFill>
                  <a:srgbClr val="0B1F33"/>
                </a:solidFill>
                <a:latin typeface="SimHei"/>
              </a:rPr>
              <a:t>当前像素 (x, 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1545336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728216"/>
            <a:ext cx="288036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可见区？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2039112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221992"/>
            <a:ext cx="2880360" cy="32918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背景？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532888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715768"/>
            <a:ext cx="2880360" cy="32918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地图 tile？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3026664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9544"/>
            <a:ext cx="2880360" cy="32918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玩家 / 敌人？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3520440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703320"/>
            <a:ext cx="2880360" cy="329184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子弹 / 道具？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" y="4014216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197096"/>
            <a:ext cx="288036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文字 / UI？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4507992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690872"/>
            <a:ext cx="2880360" cy="32918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0">
                <a:solidFill>
                  <a:srgbClr val="0B1F33"/>
                </a:solidFill>
                <a:latin typeface="SimHei"/>
              </a:rPr>
              <a:t>图层优先级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5001768"/>
            <a:ext cx="182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184648"/>
            <a:ext cx="2880360" cy="32918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70" b="1">
                <a:solidFill>
                  <a:srgbClr val="0B1F33"/>
                </a:solidFill>
                <a:latin typeface="SimHei"/>
              </a:rPr>
              <a:t>RGB 输出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1828800"/>
            <a:ext cx="3017520" cy="457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比较器多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542032"/>
            <a:ext cx="3017520" cy="457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case/function 展开多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255264"/>
            <a:ext cx="3017520" cy="457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mux 和优先级链多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968496"/>
            <a:ext cx="3017520" cy="457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组合路径更长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507492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D4ED8"/>
                </a:solidFill>
                <a:latin typeface="SimHei"/>
              </a:rPr>
              <a:t>画面越丰富，像素级组合逻辑越重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是否在可见区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是否命中背景、地图 tile、玩家、敌人、子弹、道具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是否命中文字或 UI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最终按图层优先级选择 RGB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代码能综合，不代表电路能按 100MHz 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WNS 为负说明至少有一条路径在一个周期内来不及。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D4ED8"/>
                </a:solidFill>
                <a:latin typeface="SimHei"/>
              </a:rPr>
              <a:t>100MHz 时钟周期 = 10ns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743200"/>
            <a:ext cx="137160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寄存器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514600"/>
            <a:ext cx="2057400" cy="10515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F33"/>
                </a:solidFill>
                <a:latin typeface="SimHei"/>
              </a:rPr>
              <a:t>组合逻辑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43200"/>
            <a:ext cx="137160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F33"/>
                </a:solidFill>
                <a:latin typeface="SimHei"/>
              </a:rPr>
              <a:t>寄存器 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2944368"/>
            <a:ext cx="54864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629400" y="2944368"/>
            <a:ext cx="548640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20240" y="4315968"/>
            <a:ext cx="2286000" cy="56692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20" b="1">
                <a:solidFill>
                  <a:srgbClr val="0B1F33"/>
                </a:solidFill>
                <a:latin typeface="SimHei"/>
              </a:rPr>
              <a:t>延迟 &lt; 10ns</a:t>
            </a:r>
            <a:br/>
            <a:r>
              <a:rPr sz="1320" b="1">
                <a:solidFill>
                  <a:srgbClr val="0B1F33"/>
                </a:solidFill>
                <a:latin typeface="SimHei"/>
              </a:rPr>
              <a:t>WNS 为正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315968"/>
            <a:ext cx="2286000" cy="56692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20" b="1">
                <a:solidFill>
                  <a:srgbClr val="DC2626"/>
                </a:solidFill>
                <a:latin typeface="SimHei"/>
              </a:rPr>
              <a:t>延迟 &gt; 10ns</a:t>
            </a:r>
            <a:br/>
            <a:r>
              <a:rPr sz="1320" b="1">
                <a:solidFill>
                  <a:srgbClr val="DC2626"/>
                </a:solidFill>
                <a:latin typeface="SimHei"/>
              </a:rPr>
              <a:t>WNS 为负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504688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526070"/>
                </a:solidFill>
                <a:latin typeface="SimHei"/>
              </a:rPr>
              <a:t>WNS 看最差一条；TNS 看所有失败路径负 slack 总和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100MHz 时钟周期为 10ns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寄存器 A 到寄存器 B 中间的组合逻辑必须在周期内稳定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4983480"/>
            <a:ext cx="525780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WNS：最差路径时序余量</a:t>
            </a:r>
          </a:p>
          <a:p>
            <a:pPr>
              <a:lnSpc>
                <a:spcPct val="108000"/>
              </a:lnSpc>
            </a:pPr>
            <a:r>
              <a:rPr sz="1340">
                <a:solidFill>
                  <a:srgbClr val="0B1F33"/>
                </a:solidFill>
                <a:latin typeface="SimHei"/>
              </a:rPr>
              <a:t>• TNS：所有失败路径负 slack 总和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最终优化结果：从负 slack 到时序收敛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先暴露真实基线，再通过 RTL staging/pipeline 把 WNS 拉正。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17320"/>
          <a:ext cx="59436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93776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阶段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WNS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TNS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失败端点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0B1F33"/>
                          </a:solidFill>
                          <a:latin typeface="SimHei"/>
                        </a:rPr>
                        <a:t>真实基线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-0.445 ns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-18.104 ns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94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60">
                          <a:solidFill>
                            <a:srgbClr val="0B1F33"/>
                          </a:solidFill>
                          <a:latin typeface="SimHei"/>
                        </a:rPr>
                        <a:t>最终 post-route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+0.174 ns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0.000 ns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0B1F33"/>
                          </a:solidFill>
                          <a:latin typeface="SimHei"/>
                        </a:rPr>
                        <a:t>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05840" y="3840480"/>
            <a:ext cx="205740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DC2626"/>
                </a:solidFill>
                <a:latin typeface="SimHei"/>
              </a:rPr>
              <a:t>负 WNS</a:t>
            </a:r>
            <a:br/>
            <a:r>
              <a:rPr sz="1250" b="1">
                <a:solidFill>
                  <a:srgbClr val="DC2626"/>
                </a:solidFill>
                <a:latin typeface="SimHei"/>
              </a:rPr>
              <a:t>暴露真实基线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409651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3840480"/>
            <a:ext cx="2057400" cy="6858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0B1F33"/>
                </a:solidFill>
                <a:latin typeface="SimHei"/>
              </a:rPr>
              <a:t>RTL staging</a:t>
            </a:r>
            <a:br/>
            <a:r>
              <a:rPr sz="1250" b="1">
                <a:solidFill>
                  <a:srgbClr val="0B1F33"/>
                </a:solidFill>
                <a:latin typeface="SimHei"/>
              </a:rPr>
              <a:t>pipeline / 小 FSM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6168" y="409651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20574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0B1F33"/>
                </a:solidFill>
                <a:latin typeface="SimHei"/>
              </a:rPr>
              <a:t>窄范围 VGA</a:t>
            </a:r>
            <a:br/>
            <a:r>
              <a:rPr sz="1250" b="1">
                <a:solidFill>
                  <a:srgbClr val="0B1F33"/>
                </a:solidFill>
                <a:latin typeface="SimHei"/>
              </a:rPr>
              <a:t>multicycle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13648" y="4096512"/>
            <a:ext cx="384048" cy="12801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3840480"/>
            <a:ext cx="205740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0B1F33"/>
                </a:solidFill>
                <a:latin typeface="SimHei"/>
              </a:rPr>
              <a:t>post-route</a:t>
            </a:r>
            <a:br/>
            <a:r>
              <a:rPr sz="1250" b="1">
                <a:solidFill>
                  <a:srgbClr val="0B1F33"/>
                </a:solidFill>
                <a:latin typeface="SimHei"/>
              </a:rPr>
              <a:t>WNS 转正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074920"/>
            <a:ext cx="5120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SimHei"/>
              </a:rPr>
              <a:t>强调：不是靠宽泛例外掩盖游戏核心路径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优化思想：把一拍大计算拆成多拍小计算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用户可见行为不变，但硬件每拍需要完成的逻辑更少。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24612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B1F33"/>
                </a:solidFill>
                <a:latin typeface="SimHei"/>
              </a:rPr>
              <a:t>Slot2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2140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ghost 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432303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65176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lock row-by-row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962656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182112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pixel_tick video staging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508760"/>
            <a:ext cx="324612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B1F33"/>
                </a:solidFill>
                <a:latin typeface="SimHei"/>
              </a:rPr>
              <a:t>Slot3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212140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candidate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432303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265176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try_x / try_y 寄存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962656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3182112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下一拍 walkable 判断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1508760"/>
            <a:ext cx="324612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B1F33"/>
                </a:solidFill>
                <a:latin typeface="SimHei"/>
              </a:rPr>
              <a:t>Slot4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7344" y="212140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TEST：寄存 tile 地址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432303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67344" y="265176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EVAL：评估结果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962656"/>
            <a:ext cx="164592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26070"/>
                </a:solidFill>
                <a:latin typeface="SimHe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182112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0">
                <a:solidFill>
                  <a:srgbClr val="0B1F33"/>
                </a:solidFill>
                <a:latin typeface="SimHei"/>
              </a:rPr>
              <a:t>APPLY：更新状态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4754880"/>
            <a:ext cx="2011680" cy="47548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C2626"/>
                </a:solidFill>
                <a:latin typeface="SimHei"/>
              </a:rPr>
              <a:t>一拍大计算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736592" y="4919472"/>
            <a:ext cx="530352" cy="146304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0" y="4754880"/>
            <a:ext cx="2011680" cy="47548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6A34A"/>
                </a:solidFill>
                <a:latin typeface="SimHei"/>
              </a:rPr>
              <a:t>多拍小计算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532120"/>
            <a:ext cx="4389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526070"/>
                </a:solidFill>
                <a:latin typeface="SimHei"/>
              </a:rPr>
              <a:t>行为保持帧级等价，关键路径更短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0B1F33"/>
                </a:solidFill>
                <a:latin typeface="SimHei"/>
              </a:rPr>
              <a:t>从功能实现到工程实现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9966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26070"/>
                </a:solidFill>
                <a:latin typeface="SimHei"/>
              </a:rPr>
              <a:t>最终收获是把显示、输入、架构、资源和时序统一起来。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24712"/>
            <a:ext cx="18288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10896"/>
            <a:ext cx="3840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26070"/>
                </a:solidFill>
                <a:latin typeface="Sim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6455664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26070"/>
                </a:solidFill>
                <a:latin typeface="SimHei"/>
              </a:rPr>
              <a:t>Nexys A7 VGA Game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965960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B1F33"/>
                </a:solidFill>
                <a:latin typeface="SimHei"/>
              </a:rPr>
              <a:t>VGA</a:t>
            </a:r>
            <a:br/>
            <a:r>
              <a:rPr sz="1300" b="1">
                <a:solidFill>
                  <a:srgbClr val="0B1F33"/>
                </a:solidFill>
                <a:latin typeface="SimHei"/>
              </a:rPr>
              <a:t>实时像素扫描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1828800"/>
            <a:ext cx="1965960" cy="9601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B1F33"/>
                </a:solidFill>
                <a:latin typeface="SimHei"/>
              </a:rPr>
              <a:t>菜单</a:t>
            </a:r>
            <a:br/>
            <a:r>
              <a:rPr sz="1300" b="1">
                <a:solidFill>
                  <a:srgbClr val="0B1F33"/>
                </a:solidFill>
                <a:latin typeface="SimHei"/>
              </a:rPr>
              <a:t>坐标判断 / 图层优先级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828800"/>
            <a:ext cx="196596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B1F33"/>
                </a:solidFill>
                <a:latin typeface="SimHei"/>
              </a:rPr>
              <a:t>PS/2</a:t>
            </a:r>
            <a:br/>
            <a:r>
              <a:rPr sz="1300" b="1">
                <a:solidFill>
                  <a:srgbClr val="0B1F33"/>
                </a:solidFill>
                <a:latin typeface="SimHei"/>
              </a:rPr>
              <a:t>协议解析 / 事件化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828800"/>
            <a:ext cx="1965960" cy="960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B1F33"/>
                </a:solidFill>
                <a:latin typeface="SimHei"/>
              </a:rPr>
              <a:t>API</a:t>
            </a:r>
            <a:br/>
            <a:r>
              <a:rPr sz="1300" b="1">
                <a:solidFill>
                  <a:srgbClr val="0B1F33"/>
                </a:solidFill>
                <a:latin typeface="SimHei"/>
              </a:rPr>
              <a:t>平台化槽位架构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828800"/>
            <a:ext cx="1965960" cy="960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B1F33"/>
                </a:solidFill>
                <a:latin typeface="SimHei"/>
              </a:rPr>
              <a:t>LUT/WNS</a:t>
            </a:r>
            <a:br/>
            <a:r>
              <a:rPr sz="1300" b="1">
                <a:solidFill>
                  <a:srgbClr val="0B1F33"/>
                </a:solidFill>
                <a:latin typeface="SimHei"/>
              </a:rPr>
              <a:t>从功能到可实现硬件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60520"/>
            <a:ext cx="96926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D4ED8"/>
                </a:solidFill>
                <a:latin typeface="SimHei"/>
              </a:rPr>
              <a:t>这个项目让我从“写出能工作的游戏”走向“设计一个能显示、能输入、能扩展、能优化、能真正生成 bitstream 的 FPGA 产品”。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